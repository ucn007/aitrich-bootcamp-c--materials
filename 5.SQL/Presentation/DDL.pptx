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Roboto"/>
      <p:regular r:id="rId23"/>
      <p:bold r:id="rId24"/>
      <p:italic r:id="rId25"/>
      <p:boldItalic r:id="rId26"/>
    </p:embeddedFont>
    <p:embeddedFont>
      <p:font typeface="Bell M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hheljtl+U9G3dilaZD5gYvlOVu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BellMT-bold.fntdata"/><Relationship Id="rId27" Type="http://schemas.openxmlformats.org/officeDocument/2006/relationships/font" Target="fonts/BellMT-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BellMT-italic.fntdata"/><Relationship Id="rId7" Type="http://schemas.openxmlformats.org/officeDocument/2006/relationships/slide" Target="slides/slide3.xml"/><Relationship Id="rId8" Type="http://schemas.openxmlformats.org/officeDocument/2006/relationships/slide" Target="slides/slide4.xml"/><Relationship Id="rId31" Type="http://customschemas.google.com/relationships/presentationmetadata" Target="metadata"/><Relationship Id="rId30" Type="http://schemas.openxmlformats.org/officeDocument/2006/relationships/font" Target="fonts/BellMT-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sz="1500"/>
              <a:t>Hello..welcome to aitrich academy.Today we are discussing about the topic DDL that is data definition language.</a:t>
            </a:r>
            <a:r>
              <a:rPr lang="en-US" sz="1600">
                <a:solidFill>
                  <a:srgbClr val="0D0D0D"/>
                </a:solidFill>
                <a:highlight>
                  <a:srgbClr val="FFFFFF"/>
                </a:highlight>
                <a:latin typeface="Roboto"/>
                <a:ea typeface="Roboto"/>
                <a:cs typeface="Roboto"/>
                <a:sym typeface="Roboto"/>
              </a:rPr>
              <a:t>e, and it's a subset of SQL (Structured Query Language) used to define and manage the structure of a database. Essentially, DDL allows you to create, modify, and delete database objects such as tables, indexes, views, and schemas.DDL commands are powerful tools for database administrators and developers to manage the structure of a database and ensure it meets the requirements of an application.</a:t>
            </a:r>
            <a:endParaRPr sz="1500"/>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Let’s talk with DDL.</a:t>
            </a:r>
            <a:r>
              <a:rPr lang="en-US" sz="1200">
                <a:solidFill>
                  <a:srgbClr val="0D0D0D"/>
                </a:solidFill>
                <a:highlight>
                  <a:srgbClr val="FFFFFF"/>
                </a:highlight>
                <a:latin typeface="Roboto"/>
                <a:ea typeface="Roboto"/>
                <a:cs typeface="Roboto"/>
                <a:sym typeface="Roboto"/>
              </a:rPr>
              <a:t>DDL commands are subset of SQL Language.DDL are powerful tools for database administrators and developers to manage the structure of a database and ensure it meets the requirements of an application used for defining and managing the structure of a database.DDL, or Data Definition Language, is a set of SQL commands used to define, modify, and delete the structure of a database. It includes commands like CREATE (to create new database objects), ALTER (to modify existing objects), DROP (to delete objects), and others. DDL is crucial for managing the schema of a database and ensuring its integrity and organization.Exactly! You've captured the essence of DDL perfectly. Its primary purpose is indeed to specify the schema or structure of the database and its objects. With DDL, you can define the layout of tables, the relationships between them, constraints, indexes, and other properties that dictate how data is organized and stored in the database.</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 Main DDL Commands are </a:t>
            </a:r>
            <a:r>
              <a:rPr lang="en-US">
                <a:solidFill>
                  <a:schemeClr val="dk1"/>
                </a:solidFill>
              </a:rPr>
              <a:t> CREATE,ALTER,DROP,TRUNCATE,COMMENT,RENAME we will  explain on the next slide</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First we discuss About CREATE Command =.</a:t>
            </a:r>
            <a:endParaRPr/>
          </a:p>
        </p:txBody>
      </p:sp>
      <p:sp>
        <p:nvSpPr>
          <p:cNvPr id="111" name="Google Shape;11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p:nvPr>
            <p:ph idx="2" type="pic"/>
          </p:nvPr>
        </p:nvSpPr>
        <p:spPr>
          <a:xfrm>
            <a:off x="5183188" y="987425"/>
            <a:ext cx="6172200" cy="4873625"/>
          </a:xfrm>
          <a:prstGeom prst="rect">
            <a:avLst/>
          </a:prstGeom>
          <a:noFill/>
          <a:ln>
            <a:noFill/>
          </a:ln>
        </p:spPr>
      </p:sp>
      <p:sp>
        <p:nvSpPr>
          <p:cNvPr id="64" name="Google Shape;64;p2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570230" y="2591435"/>
            <a:ext cx="6029960" cy="990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012D86"/>
              </a:buClr>
              <a:buSzPct val="100000"/>
              <a:buFont typeface="Bell MT"/>
              <a:buNone/>
            </a:pPr>
            <a:br>
              <a:rPr b="1" lang="en-US">
                <a:solidFill>
                  <a:srgbClr val="012D86"/>
                </a:solidFill>
                <a:latin typeface="Bell MT"/>
                <a:ea typeface="Bell MT"/>
                <a:cs typeface="Bell MT"/>
                <a:sym typeface="Bell MT"/>
              </a:rPr>
            </a:br>
            <a:br>
              <a:rPr b="1" lang="en-US">
                <a:solidFill>
                  <a:srgbClr val="012D86"/>
                </a:solidFill>
                <a:latin typeface="Bell MT"/>
                <a:ea typeface="Bell MT"/>
                <a:cs typeface="Bell MT"/>
                <a:sym typeface="Bell MT"/>
              </a:rPr>
            </a:br>
            <a:br>
              <a:rPr b="1" lang="en-US">
                <a:solidFill>
                  <a:srgbClr val="012D86"/>
                </a:solidFill>
                <a:latin typeface="Bell MT"/>
                <a:ea typeface="Bell MT"/>
                <a:cs typeface="Bell MT"/>
                <a:sym typeface="Bell MT"/>
              </a:rPr>
            </a:br>
            <a:br>
              <a:rPr b="1" lang="en-US">
                <a:solidFill>
                  <a:srgbClr val="012D86"/>
                </a:solidFill>
                <a:latin typeface="Bell MT"/>
                <a:ea typeface="Bell MT"/>
                <a:cs typeface="Bell MT"/>
                <a:sym typeface="Bell MT"/>
              </a:rPr>
            </a:br>
            <a:br>
              <a:rPr b="1" lang="en-US">
                <a:solidFill>
                  <a:srgbClr val="012D86"/>
                </a:solidFill>
                <a:latin typeface="Bell MT"/>
                <a:ea typeface="Bell MT"/>
                <a:cs typeface="Bell MT"/>
                <a:sym typeface="Bell MT"/>
              </a:rPr>
            </a:br>
            <a:br>
              <a:rPr b="1" lang="en-US">
                <a:solidFill>
                  <a:srgbClr val="012D86"/>
                </a:solidFill>
                <a:latin typeface="Bell MT"/>
                <a:ea typeface="Bell MT"/>
                <a:cs typeface="Bell MT"/>
                <a:sym typeface="Bell MT"/>
              </a:rPr>
            </a:br>
            <a:br>
              <a:rPr b="1" lang="en-US">
                <a:solidFill>
                  <a:srgbClr val="012D86"/>
                </a:solidFill>
                <a:latin typeface="Bell MT"/>
                <a:ea typeface="Bell MT"/>
                <a:cs typeface="Bell MT"/>
                <a:sym typeface="Bell MT"/>
              </a:rPr>
            </a:br>
            <a:br>
              <a:rPr b="1" lang="en-US">
                <a:solidFill>
                  <a:srgbClr val="012D86"/>
                </a:solidFill>
                <a:latin typeface="Bell MT"/>
                <a:ea typeface="Bell MT"/>
                <a:cs typeface="Bell MT"/>
                <a:sym typeface="Bell MT"/>
              </a:rPr>
            </a:br>
            <a:r>
              <a:rPr b="1" lang="en-US">
                <a:solidFill>
                  <a:srgbClr val="012D86"/>
                </a:solidFill>
                <a:latin typeface="Bell MT"/>
                <a:ea typeface="Bell MT"/>
                <a:cs typeface="Bell MT"/>
                <a:sym typeface="Bell MT"/>
              </a:rPr>
              <a:t>DDL</a:t>
            </a:r>
            <a:br>
              <a:rPr b="1" lang="en-US">
                <a:solidFill>
                  <a:srgbClr val="012D86"/>
                </a:solidFill>
                <a:latin typeface="Bell MT"/>
                <a:ea typeface="Bell MT"/>
                <a:cs typeface="Bell MT"/>
                <a:sym typeface="Bell MT"/>
              </a:rPr>
            </a:br>
            <a:endParaRPr b="1">
              <a:solidFill>
                <a:srgbClr val="012D86"/>
              </a:solidFill>
              <a:latin typeface="Bell MT"/>
              <a:ea typeface="Bell MT"/>
              <a:cs typeface="Bell MT"/>
              <a:sym typeface="Bell MT"/>
            </a:endParaRPr>
          </a:p>
        </p:txBody>
      </p:sp>
      <p:pic>
        <p:nvPicPr>
          <p:cNvPr descr="Aitrich-Logo-Transparent-BG-2048x671" id="85" name="Google Shape;85;p1"/>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86" name="Google Shape;86;p1"/>
          <p:cNvSpPr/>
          <p:nvPr/>
        </p:nvSpPr>
        <p:spPr>
          <a:xfrm>
            <a:off x="570230" y="2975610"/>
            <a:ext cx="6029960" cy="744220"/>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12D86"/>
              </a:buClr>
              <a:buSzPts val="3600"/>
              <a:buFont typeface="Bell MT"/>
              <a:buNone/>
            </a:pPr>
            <a:r>
              <a:rPr b="1" i="0" lang="en-US" sz="3600" u="none" cap="none" strike="noStrike">
                <a:solidFill>
                  <a:srgbClr val="012D86"/>
                </a:solidFill>
                <a:latin typeface="Bell MT"/>
                <a:ea typeface="Bell MT"/>
                <a:cs typeface="Bell MT"/>
                <a:sym typeface="Bell MT"/>
              </a:rPr>
              <a:t>Data Definition Language</a:t>
            </a:r>
            <a:endParaRPr b="1" i="0" sz="3600" u="none" cap="none" strike="noStrike">
              <a:solidFill>
                <a:srgbClr val="012D86"/>
              </a:solidFill>
              <a:latin typeface="Bell MT"/>
              <a:ea typeface="Bell MT"/>
              <a:cs typeface="Bell MT"/>
              <a:sym typeface="Bell MT"/>
            </a:endParaRPr>
          </a:p>
        </p:txBody>
      </p:sp>
      <p:pic>
        <p:nvPicPr>
          <p:cNvPr descr="2794209" id="87" name="Google Shape;87;p1"/>
          <p:cNvPicPr preferRelativeResize="0"/>
          <p:nvPr/>
        </p:nvPicPr>
        <p:blipFill rotWithShape="1">
          <a:blip r:embed="rId4">
            <a:alphaModFix/>
          </a:blip>
          <a:srcRect b="0" l="0" r="0" t="0"/>
          <a:stretch/>
        </p:blipFill>
        <p:spPr>
          <a:xfrm>
            <a:off x="6600190" y="662940"/>
            <a:ext cx="5325745" cy="603123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500"/>
                                        <p:tgtEl>
                                          <p:spTgt spid="86"/>
                                        </p:tgtEl>
                                      </p:cBhvr>
                                    </p:animEffect>
                                  </p:childTnLst>
                                </p:cTn>
                              </p:par>
                              <p:par>
                                <p:cTn fill="hold" nodeType="with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500"/>
                                        <p:tgtEl>
                                          <p:spTgt spid="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9144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2D86"/>
              </a:buClr>
              <a:buSzPts val="4000"/>
              <a:buFont typeface="Bell MT"/>
              <a:buNone/>
            </a:pPr>
            <a:r>
              <a:rPr b="1" lang="en-US" sz="4000">
                <a:solidFill>
                  <a:srgbClr val="012D86"/>
                </a:solidFill>
                <a:latin typeface="Bell MT"/>
                <a:ea typeface="Bell MT"/>
                <a:cs typeface="Bell MT"/>
                <a:sym typeface="Bell MT"/>
              </a:rPr>
              <a:t>INTRODUCTION</a:t>
            </a:r>
            <a:endParaRPr b="1" sz="4000">
              <a:solidFill>
                <a:srgbClr val="012D86"/>
              </a:solidFill>
              <a:latin typeface="Bell MT"/>
              <a:ea typeface="Bell MT"/>
              <a:cs typeface="Bell MT"/>
              <a:sym typeface="Bell MT"/>
            </a:endParaRPr>
          </a:p>
        </p:txBody>
      </p:sp>
      <p:sp>
        <p:nvSpPr>
          <p:cNvPr id="93" name="Google Shape;9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sz="1800">
              <a:solidFill>
                <a:srgbClr val="012D86"/>
              </a:solidFill>
            </a:endParaRPr>
          </a:p>
          <a:p>
            <a:pPr indent="0" lvl="0" marL="0" rtl="0" algn="l">
              <a:lnSpc>
                <a:spcPct val="90000"/>
              </a:lnSpc>
              <a:spcBef>
                <a:spcPts val="1000"/>
              </a:spcBef>
              <a:spcAft>
                <a:spcPts val="0"/>
              </a:spcAft>
              <a:buClr>
                <a:schemeClr val="dk1"/>
              </a:buClr>
              <a:buSzPts val="1800"/>
              <a:buNone/>
            </a:pPr>
            <a:r>
              <a:t/>
            </a:r>
            <a:endParaRPr sz="1800">
              <a:solidFill>
                <a:srgbClr val="012D86"/>
              </a:solidFill>
            </a:endParaRPr>
          </a:p>
          <a:p>
            <a:pPr indent="0" lvl="0" marL="0" rtl="0" algn="l">
              <a:lnSpc>
                <a:spcPct val="90000"/>
              </a:lnSpc>
              <a:spcBef>
                <a:spcPts val="1000"/>
              </a:spcBef>
              <a:spcAft>
                <a:spcPts val="0"/>
              </a:spcAft>
              <a:buClr>
                <a:schemeClr val="dk1"/>
              </a:buClr>
              <a:buSzPts val="1800"/>
              <a:buNone/>
            </a:pPr>
            <a:r>
              <a:t/>
            </a:r>
            <a:endParaRPr sz="1800">
              <a:solidFill>
                <a:srgbClr val="012D86"/>
              </a:solidFill>
            </a:endParaRPr>
          </a:p>
          <a:p>
            <a:pPr indent="0" lvl="0" marL="0" rtl="0" algn="l">
              <a:lnSpc>
                <a:spcPct val="90000"/>
              </a:lnSpc>
              <a:spcBef>
                <a:spcPts val="1000"/>
              </a:spcBef>
              <a:spcAft>
                <a:spcPts val="0"/>
              </a:spcAft>
              <a:buClr>
                <a:schemeClr val="dk1"/>
              </a:buClr>
              <a:buSzPts val="1800"/>
              <a:buNone/>
            </a:pPr>
            <a:r>
              <a:t/>
            </a:r>
            <a:endParaRPr sz="1800">
              <a:solidFill>
                <a:srgbClr val="012D86"/>
              </a:solidFill>
            </a:endParaRPr>
          </a:p>
          <a:p>
            <a:pPr indent="0" lvl="0" marL="0" rtl="0" algn="l">
              <a:lnSpc>
                <a:spcPct val="90000"/>
              </a:lnSpc>
              <a:spcBef>
                <a:spcPts val="1000"/>
              </a:spcBef>
              <a:spcAft>
                <a:spcPts val="0"/>
              </a:spcAft>
              <a:buClr>
                <a:schemeClr val="dk1"/>
              </a:buClr>
              <a:buSzPts val="1800"/>
              <a:buNone/>
            </a:pPr>
            <a:r>
              <a:t/>
            </a:r>
            <a:endParaRPr sz="1800">
              <a:solidFill>
                <a:srgbClr val="012D86"/>
              </a:solidFill>
            </a:endParaRPr>
          </a:p>
          <a:p>
            <a:pPr indent="0" lvl="0" marL="0" rtl="0" algn="l">
              <a:lnSpc>
                <a:spcPct val="90000"/>
              </a:lnSpc>
              <a:spcBef>
                <a:spcPts val="1000"/>
              </a:spcBef>
              <a:spcAft>
                <a:spcPts val="0"/>
              </a:spcAft>
              <a:buClr>
                <a:schemeClr val="dk1"/>
              </a:buClr>
              <a:buSzPts val="1800"/>
              <a:buNone/>
            </a:pPr>
            <a:r>
              <a:t/>
            </a:r>
            <a:endParaRPr sz="1800">
              <a:solidFill>
                <a:srgbClr val="012D86"/>
              </a:solidFill>
            </a:endParaRPr>
          </a:p>
          <a:p>
            <a:pPr indent="0" lvl="0" marL="0" rtl="0" algn="l">
              <a:lnSpc>
                <a:spcPct val="90000"/>
              </a:lnSpc>
              <a:spcBef>
                <a:spcPts val="1000"/>
              </a:spcBef>
              <a:spcAft>
                <a:spcPts val="0"/>
              </a:spcAft>
              <a:buClr>
                <a:schemeClr val="dk1"/>
              </a:buClr>
              <a:buSzPts val="1800"/>
              <a:buNone/>
            </a:pPr>
            <a:r>
              <a:t/>
            </a:r>
            <a:endParaRPr sz="1800">
              <a:solidFill>
                <a:srgbClr val="012D86"/>
              </a:solidFill>
            </a:endParaRPr>
          </a:p>
        </p:txBody>
      </p:sp>
      <p:pic>
        <p:nvPicPr>
          <p:cNvPr descr="3808949" id="94" name="Google Shape;94;p2"/>
          <p:cNvPicPr preferRelativeResize="0"/>
          <p:nvPr>
            <p:ph idx="4294967295" type="body"/>
          </p:nvPr>
        </p:nvPicPr>
        <p:blipFill rotWithShape="1">
          <a:blip r:embed="rId3">
            <a:alphaModFix/>
          </a:blip>
          <a:srcRect b="0" l="0" r="0" t="0"/>
          <a:stretch/>
        </p:blipFill>
        <p:spPr>
          <a:xfrm>
            <a:off x="6794500" y="2284730"/>
            <a:ext cx="4559300" cy="3454400"/>
          </a:xfrm>
          <a:prstGeom prst="rect">
            <a:avLst/>
          </a:prstGeom>
          <a:noFill/>
          <a:ln>
            <a:noFill/>
          </a:ln>
        </p:spPr>
      </p:pic>
      <p:sp>
        <p:nvSpPr>
          <p:cNvPr id="95" name="Google Shape;95;p2"/>
          <p:cNvSpPr/>
          <p:nvPr/>
        </p:nvSpPr>
        <p:spPr>
          <a:xfrm>
            <a:off x="709930" y="1667510"/>
            <a:ext cx="5309235" cy="907415"/>
          </a:xfrm>
          <a:prstGeom prst="roundRect">
            <a:avLst>
              <a:gd fmla="val 16667" name="adj"/>
            </a:avLst>
          </a:prstGeom>
          <a:gradFill>
            <a:gsLst>
              <a:gs pos="0">
                <a:srgbClr val="012D86"/>
              </a:gs>
              <a:gs pos="100000">
                <a:srgbClr val="0E2557"/>
              </a:gs>
            </a:gsLst>
            <a:lin ang="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DDL stands for Data Definition Language, and it is a subset of SQL</a:t>
            </a:r>
            <a:endParaRPr b="0" i="0" sz="1600" u="none" cap="none" strike="noStrike">
              <a:solidFill>
                <a:schemeClr val="lt1"/>
              </a:solidFill>
              <a:latin typeface="Comic Sans MS"/>
              <a:ea typeface="Comic Sans MS"/>
              <a:cs typeface="Comic Sans MS"/>
              <a:sym typeface="Comic Sans MS"/>
            </a:endParaRPr>
          </a:p>
        </p:txBody>
      </p:sp>
      <p:sp>
        <p:nvSpPr>
          <p:cNvPr id="96" name="Google Shape;96;p2"/>
          <p:cNvSpPr/>
          <p:nvPr/>
        </p:nvSpPr>
        <p:spPr>
          <a:xfrm>
            <a:off x="710565" y="2687955"/>
            <a:ext cx="5309235" cy="863600"/>
          </a:xfrm>
          <a:prstGeom prst="roundRect">
            <a:avLst>
              <a:gd fmla="val 16667" name="adj"/>
            </a:avLst>
          </a:prstGeom>
          <a:gradFill>
            <a:gsLst>
              <a:gs pos="0">
                <a:srgbClr val="012D86"/>
              </a:gs>
              <a:gs pos="100000">
                <a:srgbClr val="0E2557"/>
              </a:gs>
            </a:gsLst>
            <a:lin ang="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It is used to define and manage the structure of a database.</a:t>
            </a:r>
            <a:endParaRPr b="0" i="0" sz="1600" u="none" cap="none" strike="noStrike">
              <a:solidFill>
                <a:schemeClr val="lt1"/>
              </a:solidFill>
              <a:latin typeface="Comic Sans MS"/>
              <a:ea typeface="Comic Sans MS"/>
              <a:cs typeface="Comic Sans MS"/>
              <a:sym typeface="Comic Sans MS"/>
            </a:endParaRPr>
          </a:p>
        </p:txBody>
      </p:sp>
      <p:sp>
        <p:nvSpPr>
          <p:cNvPr id="97" name="Google Shape;97;p2"/>
          <p:cNvSpPr/>
          <p:nvPr/>
        </p:nvSpPr>
        <p:spPr>
          <a:xfrm>
            <a:off x="710565" y="3721100"/>
            <a:ext cx="5309235" cy="917575"/>
          </a:xfrm>
          <a:prstGeom prst="roundRect">
            <a:avLst>
              <a:gd fmla="val 16667" name="adj"/>
            </a:avLst>
          </a:prstGeom>
          <a:gradFill>
            <a:gsLst>
              <a:gs pos="0">
                <a:srgbClr val="012D86"/>
              </a:gs>
              <a:gs pos="100000">
                <a:srgbClr val="0E2557"/>
              </a:gs>
            </a:gsLst>
            <a:lin ang="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DDL statements are responsible for creating, altering, and deleting database objects such as tables, views, indexes, and constraints. </a:t>
            </a:r>
            <a:endParaRPr b="0" i="0" sz="1600" u="none" cap="none" strike="noStrike">
              <a:solidFill>
                <a:schemeClr val="lt1"/>
              </a:solidFill>
              <a:latin typeface="Comic Sans MS"/>
              <a:ea typeface="Comic Sans MS"/>
              <a:cs typeface="Comic Sans MS"/>
              <a:sym typeface="Comic Sans MS"/>
            </a:endParaRPr>
          </a:p>
        </p:txBody>
      </p:sp>
      <p:pic>
        <p:nvPicPr>
          <p:cNvPr descr="Aitrich-Logo-Transparent-BG-2048x671" id="98" name="Google Shape;98;p2"/>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99" name="Google Shape;99;p2"/>
          <p:cNvSpPr/>
          <p:nvPr/>
        </p:nvSpPr>
        <p:spPr>
          <a:xfrm>
            <a:off x="709930" y="4808220"/>
            <a:ext cx="5309235" cy="917575"/>
          </a:xfrm>
          <a:prstGeom prst="roundRect">
            <a:avLst>
              <a:gd fmla="val 16667" name="adj"/>
            </a:avLst>
          </a:prstGeom>
          <a:gradFill>
            <a:gsLst>
              <a:gs pos="0">
                <a:srgbClr val="012D86"/>
              </a:gs>
              <a:gs pos="100000">
                <a:srgbClr val="0E2557"/>
              </a:gs>
            </a:gsLst>
            <a:lin ang="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Comic Sans MS"/>
              <a:buNone/>
            </a:pPr>
            <a:r>
              <a:rPr b="0" i="0" lang="en-US" sz="1600" u="none" cap="none" strike="noStrike">
                <a:solidFill>
                  <a:schemeClr val="lt1"/>
                </a:solidFill>
                <a:latin typeface="Comic Sans MS"/>
                <a:ea typeface="Comic Sans MS"/>
                <a:cs typeface="Comic Sans MS"/>
                <a:sym typeface="Comic Sans MS"/>
              </a:rPr>
              <a:t>The primary purpose of DDL in SQL is to specify the schema or structure of the database and its objects.</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500"/>
                                        <p:tgtEl>
                                          <p:spTgt spid="92"/>
                                        </p:tgtEl>
                                      </p:cBhvr>
                                    </p:animEffect>
                                  </p:childTnLst>
                                </p:cTn>
                              </p:par>
                              <p:par>
                                <p:cTn fill="hold" nodeType="with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500"/>
                                        <p:tgtEl>
                                          <p:spTgt spid="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000"/>
                                        <p:tgtEl>
                                          <p:spTgt spid="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1000"/>
                                        <p:tgtEl>
                                          <p:spTgt spid="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000"/>
                                        <p:tgtEl>
                                          <p:spTgt spid="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4900">
                <a:solidFill>
                  <a:srgbClr val="002060"/>
                </a:solidFill>
                <a:highlight>
                  <a:schemeClr val="lt1"/>
                </a:highlight>
                <a:latin typeface="Bell MT"/>
                <a:ea typeface="Bell MT"/>
                <a:cs typeface="Bell MT"/>
                <a:sym typeface="Bell MT"/>
              </a:rPr>
              <a:t>LIST OF DDL COMMANDS</a:t>
            </a:r>
            <a:endParaRPr b="1" sz="4900">
              <a:solidFill>
                <a:srgbClr val="002060"/>
              </a:solidFill>
              <a:highlight>
                <a:schemeClr val="lt1"/>
              </a:highlight>
              <a:latin typeface="Bell MT"/>
              <a:ea typeface="Bell MT"/>
              <a:cs typeface="Bell MT"/>
              <a:sym typeface="Bell MT"/>
            </a:endParaRPr>
          </a:p>
        </p:txBody>
      </p:sp>
      <p:sp>
        <p:nvSpPr>
          <p:cNvPr id="105" name="Google Shape;105;p3"/>
          <p:cNvSpPr txBox="1"/>
          <p:nvPr>
            <p:ph idx="1" type="body"/>
          </p:nvPr>
        </p:nvSpPr>
        <p:spPr>
          <a:xfrm>
            <a:off x="5962975" y="1825625"/>
            <a:ext cx="5507100" cy="4351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lt1"/>
              </a:buClr>
              <a:buSzPts val="1600"/>
              <a:buFont typeface="Comic Sans MS"/>
              <a:buNone/>
            </a:pPr>
            <a:r>
              <a:rPr lang="en-US" sz="1600">
                <a:solidFill>
                  <a:schemeClr val="lt1"/>
                </a:solidFill>
                <a:latin typeface="Comic Sans MS"/>
                <a:ea typeface="Comic Sans MS"/>
                <a:cs typeface="Comic Sans MS"/>
                <a:sym typeface="Comic Sans MS"/>
              </a:rPr>
              <a:t>DDL stands for Data Definition Language, and it is a subset of SQL</a:t>
            </a:r>
            <a:endParaRPr sz="1600">
              <a:solidFill>
                <a:schemeClr val="lt1"/>
              </a:solidFill>
              <a:latin typeface="Comic Sans MS"/>
              <a:ea typeface="Comic Sans MS"/>
              <a:cs typeface="Comic Sans MS"/>
              <a:sym typeface="Comic Sans MS"/>
            </a:endParaRPr>
          </a:p>
          <a:p>
            <a:pPr indent="0" lvl="0" marL="0" rtl="0" algn="l">
              <a:lnSpc>
                <a:spcPct val="90000"/>
              </a:lnSpc>
              <a:spcBef>
                <a:spcPts val="1000"/>
              </a:spcBef>
              <a:spcAft>
                <a:spcPts val="0"/>
              </a:spcAft>
              <a:buSzPts val="1800"/>
              <a:buNone/>
            </a:pPr>
            <a:r>
              <a:t/>
            </a:r>
            <a:endParaRPr sz="1600">
              <a:solidFill>
                <a:schemeClr val="lt1"/>
              </a:solidFill>
              <a:latin typeface="Comic Sans MS"/>
              <a:ea typeface="Comic Sans MS"/>
              <a:cs typeface="Comic Sans MS"/>
              <a:sym typeface="Comic Sans MS"/>
            </a:endParaRPr>
          </a:p>
        </p:txBody>
      </p:sp>
      <p:sp>
        <p:nvSpPr>
          <p:cNvPr id="106" name="Google Shape;106;p3"/>
          <p:cNvSpPr/>
          <p:nvPr/>
        </p:nvSpPr>
        <p:spPr>
          <a:xfrm>
            <a:off x="709925" y="1667450"/>
            <a:ext cx="5507100" cy="4998900"/>
          </a:xfrm>
          <a:prstGeom prst="roundRect">
            <a:avLst>
              <a:gd fmla="val 16667" name="adj"/>
            </a:avLst>
          </a:prstGeom>
          <a:gradFill>
            <a:gsLst>
              <a:gs pos="0">
                <a:srgbClr val="012D86"/>
              </a:gs>
              <a:gs pos="100000">
                <a:srgbClr val="0E2557"/>
              </a:gs>
            </a:gsLst>
            <a:lin ang="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Comic Sans MS"/>
              <a:buNone/>
            </a:pPr>
            <a:r>
              <a:t/>
            </a:r>
            <a:endParaRPr b="0" i="0" sz="1600" u="none" cap="none" strike="noStrike">
              <a:solidFill>
                <a:schemeClr val="lt1"/>
              </a:solidFill>
              <a:latin typeface="Comic Sans MS"/>
              <a:ea typeface="Comic Sans MS"/>
              <a:cs typeface="Comic Sans MS"/>
              <a:sym typeface="Comic Sans MS"/>
            </a:endParaRPr>
          </a:p>
        </p:txBody>
      </p:sp>
      <p:pic>
        <p:nvPicPr>
          <p:cNvPr id="107" name="Google Shape;107;p3"/>
          <p:cNvPicPr preferRelativeResize="0"/>
          <p:nvPr/>
        </p:nvPicPr>
        <p:blipFill rotWithShape="1">
          <a:blip r:embed="rId3">
            <a:alphaModFix/>
          </a:blip>
          <a:srcRect b="0" l="0" r="0" t="0"/>
          <a:stretch/>
        </p:blipFill>
        <p:spPr>
          <a:xfrm>
            <a:off x="6602275" y="1580575"/>
            <a:ext cx="4867799" cy="4841298"/>
          </a:xfrm>
          <a:prstGeom prst="rect">
            <a:avLst/>
          </a:prstGeom>
          <a:noFill/>
          <a:ln>
            <a:noFill/>
          </a:ln>
        </p:spPr>
      </p:pic>
      <p:sp>
        <p:nvSpPr>
          <p:cNvPr id="108" name="Google Shape;108;p3"/>
          <p:cNvSpPr txBox="1"/>
          <p:nvPr/>
        </p:nvSpPr>
        <p:spPr>
          <a:xfrm>
            <a:off x="1284425" y="2249200"/>
            <a:ext cx="4504200" cy="3927600"/>
          </a:xfrm>
          <a:prstGeom prst="rect">
            <a:avLst/>
          </a:prstGeom>
          <a:noFill/>
          <a:ln>
            <a:noFill/>
          </a:ln>
        </p:spPr>
        <p:txBody>
          <a:bodyPr anchorCtr="0" anchor="t" bIns="91425" lIns="91425" spcFirstLastPara="1" rIns="91425" wrap="square" tIns="91425">
            <a:noAutofit/>
          </a:bodyPr>
          <a:lstStyle/>
          <a:p>
            <a:pPr indent="457200" lvl="0" marL="0" marR="0" rtl="0" algn="l">
              <a:lnSpc>
                <a:spcPct val="115000"/>
              </a:lnSpc>
              <a:spcBef>
                <a:spcPts val="0"/>
              </a:spcBef>
              <a:spcAft>
                <a:spcPts val="0"/>
              </a:spcAft>
              <a:buClr>
                <a:schemeClr val="dk1"/>
              </a:buClr>
              <a:buSzPts val="1100"/>
              <a:buFont typeface="Arial"/>
              <a:buNone/>
            </a:pPr>
            <a:r>
              <a:rPr b="0" i="0" lang="en-US" sz="3700" u="none" cap="none" strike="noStrike">
                <a:solidFill>
                  <a:schemeClr val="lt1"/>
                </a:solidFill>
                <a:latin typeface="Calibri"/>
                <a:ea typeface="Calibri"/>
                <a:cs typeface="Calibri"/>
                <a:sym typeface="Calibri"/>
              </a:rPr>
              <a:t>CREATE</a:t>
            </a:r>
            <a:endParaRPr b="0" i="0" sz="3700" u="none" cap="none" strike="noStrike">
              <a:solidFill>
                <a:schemeClr val="lt1"/>
              </a:solidFill>
              <a:latin typeface="Calibri"/>
              <a:ea typeface="Calibri"/>
              <a:cs typeface="Calibri"/>
              <a:sym typeface="Calibri"/>
            </a:endParaRPr>
          </a:p>
          <a:p>
            <a:pPr indent="0" lvl="0" marL="457200" marR="0" rtl="0" algn="l">
              <a:lnSpc>
                <a:spcPct val="115000"/>
              </a:lnSpc>
              <a:spcBef>
                <a:spcPts val="0"/>
              </a:spcBef>
              <a:spcAft>
                <a:spcPts val="0"/>
              </a:spcAft>
              <a:buClr>
                <a:schemeClr val="dk1"/>
              </a:buClr>
              <a:buSzPts val="1100"/>
              <a:buFont typeface="Arial"/>
              <a:buNone/>
            </a:pPr>
            <a:r>
              <a:rPr b="0" i="0" lang="en-US" sz="3700" u="none" cap="none" strike="noStrike">
                <a:solidFill>
                  <a:schemeClr val="lt1"/>
                </a:solidFill>
                <a:latin typeface="Calibri"/>
                <a:ea typeface="Calibri"/>
                <a:cs typeface="Calibri"/>
                <a:sym typeface="Calibri"/>
              </a:rPr>
              <a:t>ALTER</a:t>
            </a:r>
            <a:endParaRPr b="0" i="0" sz="3700" u="none" cap="none" strike="noStrike">
              <a:solidFill>
                <a:schemeClr val="lt1"/>
              </a:solidFill>
              <a:latin typeface="Calibri"/>
              <a:ea typeface="Calibri"/>
              <a:cs typeface="Calibri"/>
              <a:sym typeface="Calibri"/>
            </a:endParaRPr>
          </a:p>
          <a:p>
            <a:pPr indent="0" lvl="0" marL="457200" marR="0" rtl="0" algn="l">
              <a:lnSpc>
                <a:spcPct val="115000"/>
              </a:lnSpc>
              <a:spcBef>
                <a:spcPts val="0"/>
              </a:spcBef>
              <a:spcAft>
                <a:spcPts val="0"/>
              </a:spcAft>
              <a:buClr>
                <a:schemeClr val="dk1"/>
              </a:buClr>
              <a:buSzPts val="1100"/>
              <a:buFont typeface="Arial"/>
              <a:buNone/>
            </a:pPr>
            <a:r>
              <a:rPr b="0" i="0" lang="en-US" sz="3700" u="none" cap="none" strike="noStrike">
                <a:solidFill>
                  <a:schemeClr val="lt1"/>
                </a:solidFill>
                <a:latin typeface="Calibri"/>
                <a:ea typeface="Calibri"/>
                <a:cs typeface="Calibri"/>
                <a:sym typeface="Calibri"/>
              </a:rPr>
              <a:t>DROP</a:t>
            </a:r>
            <a:endParaRPr b="0" i="0" sz="3700" u="none" cap="none" strike="noStrike">
              <a:solidFill>
                <a:schemeClr val="lt1"/>
              </a:solidFill>
              <a:latin typeface="Calibri"/>
              <a:ea typeface="Calibri"/>
              <a:cs typeface="Calibri"/>
              <a:sym typeface="Calibri"/>
            </a:endParaRPr>
          </a:p>
          <a:p>
            <a:pPr indent="0" lvl="0" marL="457200" marR="0" rtl="0" algn="l">
              <a:lnSpc>
                <a:spcPct val="115000"/>
              </a:lnSpc>
              <a:spcBef>
                <a:spcPts val="0"/>
              </a:spcBef>
              <a:spcAft>
                <a:spcPts val="0"/>
              </a:spcAft>
              <a:buClr>
                <a:schemeClr val="dk1"/>
              </a:buClr>
              <a:buSzPts val="1100"/>
              <a:buFont typeface="Arial"/>
              <a:buNone/>
            </a:pPr>
            <a:r>
              <a:rPr b="0" i="0" lang="en-US" sz="3700" u="none" cap="none" strike="noStrike">
                <a:solidFill>
                  <a:schemeClr val="lt1"/>
                </a:solidFill>
                <a:latin typeface="Calibri"/>
                <a:ea typeface="Calibri"/>
                <a:cs typeface="Calibri"/>
                <a:sym typeface="Calibri"/>
              </a:rPr>
              <a:t>TRUNCATE</a:t>
            </a:r>
            <a:endParaRPr b="0" i="0" sz="3700" u="none" cap="none" strike="noStrike">
              <a:solidFill>
                <a:schemeClr val="lt1"/>
              </a:solidFill>
              <a:latin typeface="Calibri"/>
              <a:ea typeface="Calibri"/>
              <a:cs typeface="Calibri"/>
              <a:sym typeface="Calibri"/>
            </a:endParaRPr>
          </a:p>
          <a:p>
            <a:pPr indent="0" lvl="0" marL="457200" marR="0" rtl="0" algn="l">
              <a:lnSpc>
                <a:spcPct val="115000"/>
              </a:lnSpc>
              <a:spcBef>
                <a:spcPts val="0"/>
              </a:spcBef>
              <a:spcAft>
                <a:spcPts val="0"/>
              </a:spcAft>
              <a:buClr>
                <a:schemeClr val="dk1"/>
              </a:buClr>
              <a:buSzPts val="1100"/>
              <a:buFont typeface="Arial"/>
              <a:buNone/>
            </a:pPr>
            <a:r>
              <a:rPr b="0" i="0" lang="en-US" sz="3700" u="none" cap="none" strike="noStrike">
                <a:solidFill>
                  <a:schemeClr val="lt1"/>
                </a:solidFill>
                <a:latin typeface="Calibri"/>
                <a:ea typeface="Calibri"/>
                <a:cs typeface="Calibri"/>
                <a:sym typeface="Calibri"/>
              </a:rPr>
              <a:t>RENAME</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p:nvPr/>
        </p:nvSpPr>
        <p:spPr>
          <a:xfrm>
            <a:off x="633730" y="2296795"/>
            <a:ext cx="6369685" cy="1884680"/>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 The CREATE statement is used to create new database objects such as tables, views, indexes, and constraints. It defines the structure of the object, including column names, data types, and other properties.</a:t>
            </a:r>
            <a:endParaRPr b="0" i="0" sz="1600" u="none" cap="none" strike="noStrike">
              <a:solidFill>
                <a:schemeClr val="lt1"/>
              </a:solidFill>
              <a:latin typeface="Comic Sans MS"/>
              <a:ea typeface="Comic Sans MS"/>
              <a:cs typeface="Comic Sans MS"/>
              <a:sym typeface="Comic Sans MS"/>
            </a:endParaRPr>
          </a:p>
        </p:txBody>
      </p:sp>
      <p:pic>
        <p:nvPicPr>
          <p:cNvPr descr="4952527" id="114" name="Google Shape;114;p4"/>
          <p:cNvPicPr preferRelativeResize="0"/>
          <p:nvPr>
            <p:ph idx="1" type="body"/>
          </p:nvPr>
        </p:nvPicPr>
        <p:blipFill rotWithShape="1">
          <a:blip r:embed="rId3">
            <a:alphaModFix/>
          </a:blip>
          <a:srcRect b="0" l="0" r="0" t="0"/>
          <a:stretch/>
        </p:blipFill>
        <p:spPr>
          <a:xfrm>
            <a:off x="7266940" y="1553210"/>
            <a:ext cx="4351655" cy="5108575"/>
          </a:xfrm>
          <a:prstGeom prst="rect">
            <a:avLst/>
          </a:prstGeom>
          <a:noFill/>
          <a:ln>
            <a:noFill/>
          </a:ln>
        </p:spPr>
      </p:pic>
      <p:pic>
        <p:nvPicPr>
          <p:cNvPr descr="Aitrich-Logo-Transparent-BG-2048x671" id="115" name="Google Shape;115;p4"/>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116" name="Google Shape;116;p4"/>
          <p:cNvSpPr/>
          <p:nvPr/>
        </p:nvSpPr>
        <p:spPr>
          <a:xfrm>
            <a:off x="572135" y="1150620"/>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2060"/>
              </a:buClr>
              <a:buSzPts val="3600"/>
              <a:buFont typeface="Bell MT"/>
              <a:buNone/>
            </a:pPr>
            <a:r>
              <a:rPr b="1" i="0" lang="en-US" sz="3600" u="none" cap="none" strike="noStrike">
                <a:solidFill>
                  <a:srgbClr val="002060"/>
                </a:solidFill>
                <a:latin typeface="Bell MT"/>
                <a:ea typeface="Bell MT"/>
                <a:cs typeface="Bell MT"/>
                <a:sym typeface="Bell MT"/>
              </a:rPr>
              <a:t>1. CREATE Statement:</a:t>
            </a:r>
            <a:endParaRPr b="1" i="0" sz="3600" u="none" cap="none" strike="noStrike">
              <a:solidFill>
                <a:srgbClr val="002060"/>
              </a:solidFill>
              <a:latin typeface="Bell MT"/>
              <a:ea typeface="Bell MT"/>
              <a:cs typeface="Bell MT"/>
              <a:sym typeface="Bell MT"/>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1000"/>
                                        <p:tgtEl>
                                          <p:spTgt spid="1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10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descr="Aitrich-Logo-Transparent-BG-2048x671" id="121" name="Google Shape;121;p5"/>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122" name="Google Shape;122;p5"/>
          <p:cNvSpPr txBox="1"/>
          <p:nvPr/>
        </p:nvSpPr>
        <p:spPr>
          <a:xfrm>
            <a:off x="869315" y="665480"/>
            <a:ext cx="3830320"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Bell MT"/>
                <a:ea typeface="Bell MT"/>
                <a:cs typeface="Bell MT"/>
                <a:sym typeface="Bell MT"/>
              </a:rPr>
              <a:t>a) CREATE Table:</a:t>
            </a:r>
            <a:endParaRPr b="1" i="0" sz="2000" u="none" cap="none" strike="noStrike">
              <a:solidFill>
                <a:schemeClr val="dk1"/>
              </a:solidFill>
              <a:latin typeface="Bell MT"/>
              <a:ea typeface="Bell MT"/>
              <a:cs typeface="Bell MT"/>
              <a:sym typeface="Bell MT"/>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Bell MT"/>
              <a:ea typeface="Bell MT"/>
              <a:cs typeface="Bell MT"/>
              <a:sym typeface="Bell MT"/>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Bell MT"/>
              <a:ea typeface="Bell MT"/>
              <a:cs typeface="Bell MT"/>
              <a:sym typeface="Bell MT"/>
            </a:endParaRPr>
          </a:p>
        </p:txBody>
      </p:sp>
      <p:pic>
        <p:nvPicPr>
          <p:cNvPr descr="computer" id="123" name="Google Shape;123;p5"/>
          <p:cNvPicPr preferRelativeResize="0"/>
          <p:nvPr>
            <p:ph idx="1" type="body"/>
          </p:nvPr>
        </p:nvPicPr>
        <p:blipFill rotWithShape="1">
          <a:blip r:embed="rId4">
            <a:alphaModFix/>
          </a:blip>
          <a:srcRect b="0" l="0" r="0" t="0"/>
          <a:stretch/>
        </p:blipFill>
        <p:spPr>
          <a:xfrm>
            <a:off x="-127635" y="3602355"/>
            <a:ext cx="5824855" cy="2258060"/>
          </a:xfrm>
          <a:prstGeom prst="rect">
            <a:avLst/>
          </a:prstGeom>
          <a:noFill/>
          <a:ln>
            <a:noFill/>
          </a:ln>
        </p:spPr>
      </p:pic>
      <p:sp>
        <p:nvSpPr>
          <p:cNvPr id="124" name="Google Shape;124;p5"/>
          <p:cNvSpPr txBox="1"/>
          <p:nvPr/>
        </p:nvSpPr>
        <p:spPr>
          <a:xfrm>
            <a:off x="1148080" y="4043045"/>
            <a:ext cx="3273425"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CREATE TABLE table_name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column1 datatype constraint,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column2 datatype constraint,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pic>
        <p:nvPicPr>
          <p:cNvPr descr="computer" id="125" name="Google Shape;125;p5"/>
          <p:cNvPicPr preferRelativeResize="0"/>
          <p:nvPr/>
        </p:nvPicPr>
        <p:blipFill rotWithShape="1">
          <a:blip r:embed="rId4">
            <a:alphaModFix/>
          </a:blip>
          <a:srcRect b="0" l="0" r="0" t="0"/>
          <a:stretch/>
        </p:blipFill>
        <p:spPr>
          <a:xfrm>
            <a:off x="6501765" y="3602355"/>
            <a:ext cx="5824855" cy="3091815"/>
          </a:xfrm>
          <a:prstGeom prst="rect">
            <a:avLst/>
          </a:prstGeom>
          <a:noFill/>
          <a:ln>
            <a:noFill/>
          </a:ln>
        </p:spPr>
      </p:pic>
      <p:sp>
        <p:nvSpPr>
          <p:cNvPr id="126" name="Google Shape;126;p5"/>
          <p:cNvSpPr txBox="1"/>
          <p:nvPr/>
        </p:nvSpPr>
        <p:spPr>
          <a:xfrm>
            <a:off x="7777480" y="4145280"/>
            <a:ext cx="3273425" cy="15696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CREATE TABLE Customers (</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CustomerID INT PRIMARY KEY,</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FullName VARCHAR(100),</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Email VARCHAR(100),</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Phone VARCHAR(15)</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27" name="Google Shape;127;p5"/>
          <p:cNvSpPr/>
          <p:nvPr/>
        </p:nvSpPr>
        <p:spPr>
          <a:xfrm>
            <a:off x="869315" y="1426210"/>
            <a:ext cx="6369685" cy="1168400"/>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10000"/>
              </a:lnSpc>
              <a:spcBef>
                <a:spcPts val="1000"/>
              </a:spcBef>
              <a:spcAft>
                <a:spcPts val="0"/>
              </a:spcAft>
              <a:buClr>
                <a:schemeClr val="lt1"/>
              </a:buClr>
              <a:buSzPts val="18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10000"/>
              </a:lnSpc>
              <a:spcBef>
                <a:spcPts val="100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 It creates a new table with the specified name and defines the columns, data types, and constraints.</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10000"/>
              </a:lnSpc>
              <a:spcBef>
                <a:spcPts val="1000"/>
              </a:spcBef>
              <a:spcAft>
                <a:spcPts val="0"/>
              </a:spcAft>
              <a:buClr>
                <a:schemeClr val="lt1"/>
              </a:buClr>
              <a:buSzPts val="1800"/>
              <a:buFont typeface="Arial"/>
              <a:buNone/>
            </a:pPr>
            <a:r>
              <a:t/>
            </a:r>
            <a:endParaRPr b="0" i="0" sz="1600" u="none" cap="none" strike="noStrike">
              <a:solidFill>
                <a:schemeClr val="lt1"/>
              </a:solidFill>
              <a:latin typeface="Comic Sans MS"/>
              <a:ea typeface="Comic Sans MS"/>
              <a:cs typeface="Comic Sans MS"/>
              <a:sym typeface="Comic Sans MS"/>
            </a:endParaRPr>
          </a:p>
          <a:p>
            <a:pPr indent="0" lvl="0" marL="0" marR="0" rtl="0" algn="l">
              <a:lnSpc>
                <a:spcPct val="110000"/>
              </a:lnSpc>
              <a:spcBef>
                <a:spcPts val="1000"/>
              </a:spcBef>
              <a:spcAft>
                <a:spcPts val="0"/>
              </a:spcAft>
              <a:buClr>
                <a:schemeClr val="lt1"/>
              </a:buClr>
              <a:buSzPts val="1800"/>
              <a:buFont typeface="Arial"/>
              <a:buNone/>
            </a:pPr>
            <a:r>
              <a:t/>
            </a:r>
            <a:endParaRPr b="0" i="0" sz="1600" u="none" cap="none" strike="noStrike">
              <a:solidFill>
                <a:schemeClr val="lt1"/>
              </a:solidFill>
              <a:latin typeface="Comic Sans MS"/>
              <a:ea typeface="Comic Sans MS"/>
              <a:cs typeface="Comic Sans MS"/>
              <a:sym typeface="Comic Sans MS"/>
            </a:endParaRPr>
          </a:p>
        </p:txBody>
      </p:sp>
      <p:sp>
        <p:nvSpPr>
          <p:cNvPr id="128" name="Google Shape;128;p5"/>
          <p:cNvSpPr txBox="1"/>
          <p:nvPr/>
        </p:nvSpPr>
        <p:spPr>
          <a:xfrm>
            <a:off x="948055" y="3373755"/>
            <a:ext cx="92075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Bell MT"/>
                <a:ea typeface="Bell MT"/>
                <a:cs typeface="Bell MT"/>
                <a:sym typeface="Bell MT"/>
              </a:rPr>
              <a:t>Syntax:</a:t>
            </a:r>
            <a:endParaRPr b="0" i="0" sz="1800" u="none" cap="none" strike="noStrike">
              <a:solidFill>
                <a:schemeClr val="dk1"/>
              </a:solidFill>
              <a:latin typeface="Calibri"/>
              <a:ea typeface="Calibri"/>
              <a:cs typeface="Calibri"/>
              <a:sym typeface="Calibri"/>
            </a:endParaRPr>
          </a:p>
        </p:txBody>
      </p:sp>
      <p:sp>
        <p:nvSpPr>
          <p:cNvPr id="129" name="Google Shape;129;p5"/>
          <p:cNvSpPr txBox="1"/>
          <p:nvPr/>
        </p:nvSpPr>
        <p:spPr>
          <a:xfrm>
            <a:off x="7334885" y="3446780"/>
            <a:ext cx="2540000" cy="42989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chemeClr val="lt1"/>
              </a:buClr>
              <a:buSzPts val="1800"/>
              <a:buFont typeface="Arial"/>
              <a:buNone/>
            </a:pPr>
            <a:r>
              <a:rPr b="1" i="0" lang="en-US" sz="2000" u="none" cap="none" strike="noStrike">
                <a:solidFill>
                  <a:srgbClr val="002060"/>
                </a:solidFill>
                <a:latin typeface="Bell MT"/>
                <a:ea typeface="Bell MT"/>
                <a:cs typeface="Bell MT"/>
                <a:sym typeface="Bell MT"/>
              </a:rPr>
              <a:t>Example</a:t>
            </a:r>
            <a:r>
              <a:rPr b="0" i="0" lang="en-US" sz="1600" u="none" cap="none" strike="noStrike">
                <a:solidFill>
                  <a:srgbClr val="002060"/>
                </a:solidFill>
                <a:latin typeface="Comic Sans MS"/>
                <a:ea typeface="Comic Sans MS"/>
                <a:cs typeface="Comic Sans MS"/>
                <a:sym typeface="Comic Sans MS"/>
              </a:rPr>
              <a:t>:</a:t>
            </a:r>
            <a:endParaRPr b="1" i="0" sz="1600" u="none" cap="none" strike="noStrike">
              <a:solidFill>
                <a:srgbClr val="002060"/>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par>
                                <p:cTn fill="hold" nodeType="with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par>
                                <p:cTn fill="hold" nodeType="with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par>
                                <p:cTn fill="hold" nodeType="with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par>
                                <p:cTn fill="hold" nodeType="with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p:nvPr/>
        </p:nvSpPr>
        <p:spPr>
          <a:xfrm>
            <a:off x="602615" y="1760855"/>
            <a:ext cx="6369685" cy="1317625"/>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The ALTER statement is used to modify the structure of existing database objects. </a:t>
            </a:r>
            <a:endParaRPr b="0" i="0" sz="1600" u="none" cap="none" strike="noStrike">
              <a:solidFill>
                <a:schemeClr val="lt1"/>
              </a:solidFill>
              <a:latin typeface="Comic Sans MS"/>
              <a:ea typeface="Comic Sans MS"/>
              <a:cs typeface="Comic Sans MS"/>
              <a:sym typeface="Comic Sans MS"/>
            </a:endParaRPr>
          </a:p>
        </p:txBody>
      </p:sp>
      <p:pic>
        <p:nvPicPr>
          <p:cNvPr descr="4952527" id="135" name="Google Shape;135;p6"/>
          <p:cNvPicPr preferRelativeResize="0"/>
          <p:nvPr>
            <p:ph idx="1" type="body"/>
          </p:nvPr>
        </p:nvPicPr>
        <p:blipFill rotWithShape="1">
          <a:blip r:embed="rId3">
            <a:alphaModFix/>
          </a:blip>
          <a:srcRect b="0" l="0" r="0" t="0"/>
          <a:stretch/>
        </p:blipFill>
        <p:spPr>
          <a:xfrm>
            <a:off x="7266940" y="1553210"/>
            <a:ext cx="4351655" cy="5108575"/>
          </a:xfrm>
          <a:prstGeom prst="rect">
            <a:avLst/>
          </a:prstGeom>
          <a:noFill/>
          <a:ln>
            <a:noFill/>
          </a:ln>
        </p:spPr>
      </p:pic>
      <p:pic>
        <p:nvPicPr>
          <p:cNvPr descr="Aitrich-Logo-Transparent-BG-2048x671" id="136" name="Google Shape;136;p6"/>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137" name="Google Shape;137;p6"/>
          <p:cNvSpPr/>
          <p:nvPr/>
        </p:nvSpPr>
        <p:spPr>
          <a:xfrm>
            <a:off x="541020" y="43497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2060"/>
              </a:buClr>
              <a:buSzPts val="4000"/>
              <a:buFont typeface="Bell MT"/>
              <a:buNone/>
            </a:pPr>
            <a:r>
              <a:rPr b="1" i="0" lang="en-US" sz="4000" u="none" cap="none" strike="noStrike">
                <a:solidFill>
                  <a:srgbClr val="002060"/>
                </a:solidFill>
                <a:latin typeface="Bell MT"/>
                <a:ea typeface="Bell MT"/>
                <a:cs typeface="Bell MT"/>
                <a:sym typeface="Bell MT"/>
              </a:rPr>
              <a:t>2. Alter Statement:</a:t>
            </a:r>
            <a:endParaRPr b="1" i="0" sz="4000" u="none" cap="none" strike="noStrike">
              <a:solidFill>
                <a:srgbClr val="002060"/>
              </a:solidFill>
              <a:latin typeface="Bell MT"/>
              <a:ea typeface="Bell MT"/>
              <a:cs typeface="Bell MT"/>
              <a:sym typeface="Bell MT"/>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descr="Aitrich-Logo-Transparent-BG-2048x671" id="142" name="Google Shape;142;p7"/>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143" name="Google Shape;143;p7"/>
          <p:cNvSpPr txBox="1"/>
          <p:nvPr/>
        </p:nvSpPr>
        <p:spPr>
          <a:xfrm>
            <a:off x="869315" y="665480"/>
            <a:ext cx="383032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Bell MT"/>
                <a:ea typeface="Bell MT"/>
                <a:cs typeface="Bell MT"/>
                <a:sym typeface="Bell MT"/>
              </a:rPr>
              <a:t>a) ALTER Table:</a:t>
            </a:r>
            <a:endParaRPr b="1" i="0" sz="2000" u="none" cap="none" strike="noStrike">
              <a:solidFill>
                <a:schemeClr val="dk1"/>
              </a:solidFill>
              <a:latin typeface="Bell MT"/>
              <a:ea typeface="Bell MT"/>
              <a:cs typeface="Bell MT"/>
              <a:sym typeface="Bell MT"/>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Bell MT"/>
              <a:ea typeface="Bell MT"/>
              <a:cs typeface="Bell MT"/>
              <a:sym typeface="Bell MT"/>
            </a:endParaRPr>
          </a:p>
        </p:txBody>
      </p:sp>
      <p:pic>
        <p:nvPicPr>
          <p:cNvPr descr="computer" id="144" name="Google Shape;144;p7"/>
          <p:cNvPicPr preferRelativeResize="0"/>
          <p:nvPr>
            <p:ph idx="1" type="body"/>
          </p:nvPr>
        </p:nvPicPr>
        <p:blipFill rotWithShape="1">
          <a:blip r:embed="rId4">
            <a:alphaModFix/>
          </a:blip>
          <a:srcRect b="0" l="0" r="0" t="0"/>
          <a:stretch/>
        </p:blipFill>
        <p:spPr>
          <a:xfrm>
            <a:off x="365125" y="3938270"/>
            <a:ext cx="5824855" cy="2258060"/>
          </a:xfrm>
          <a:prstGeom prst="rect">
            <a:avLst/>
          </a:prstGeom>
          <a:noFill/>
          <a:ln>
            <a:noFill/>
          </a:ln>
        </p:spPr>
      </p:pic>
      <p:sp>
        <p:nvSpPr>
          <p:cNvPr id="145" name="Google Shape;145;p7"/>
          <p:cNvSpPr txBox="1"/>
          <p:nvPr/>
        </p:nvSpPr>
        <p:spPr>
          <a:xfrm>
            <a:off x="1640840" y="4490085"/>
            <a:ext cx="3273425"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ALTER TABLE table_name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ADD column_name datatype;</a:t>
            </a:r>
            <a:endParaRPr b="0" i="0" sz="1200" u="none" cap="none" strike="noStrike">
              <a:solidFill>
                <a:schemeClr val="dk1"/>
              </a:solidFill>
              <a:latin typeface="Arial"/>
              <a:ea typeface="Arial"/>
              <a:cs typeface="Arial"/>
              <a:sym typeface="Arial"/>
            </a:endParaRPr>
          </a:p>
        </p:txBody>
      </p:sp>
      <p:sp>
        <p:nvSpPr>
          <p:cNvPr id="146" name="Google Shape;146;p7"/>
          <p:cNvSpPr txBox="1"/>
          <p:nvPr/>
        </p:nvSpPr>
        <p:spPr>
          <a:xfrm>
            <a:off x="7768590" y="3508375"/>
            <a:ext cx="2540000" cy="42989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chemeClr val="lt1"/>
              </a:buClr>
              <a:buSzPts val="1800"/>
              <a:buFont typeface="Arial"/>
              <a:buNone/>
            </a:pPr>
            <a:r>
              <a:rPr b="1" i="0" lang="en-US" sz="2000" u="none" cap="none" strike="noStrike">
                <a:solidFill>
                  <a:srgbClr val="002060"/>
                </a:solidFill>
                <a:latin typeface="Bell MT"/>
                <a:ea typeface="Bell MT"/>
                <a:cs typeface="Bell MT"/>
                <a:sym typeface="Bell MT"/>
              </a:rPr>
              <a:t>Example</a:t>
            </a:r>
            <a:r>
              <a:rPr b="0" i="0" lang="en-US" sz="1600" u="none" cap="none" strike="noStrike">
                <a:solidFill>
                  <a:srgbClr val="002060"/>
                </a:solidFill>
                <a:latin typeface="Comic Sans MS"/>
                <a:ea typeface="Comic Sans MS"/>
                <a:cs typeface="Comic Sans MS"/>
                <a:sym typeface="Comic Sans MS"/>
              </a:rPr>
              <a:t>:</a:t>
            </a:r>
            <a:endParaRPr b="1" i="0" sz="1600" u="none" cap="none" strike="noStrike">
              <a:solidFill>
                <a:srgbClr val="002060"/>
              </a:solidFill>
              <a:latin typeface="Comic Sans MS"/>
              <a:ea typeface="Comic Sans MS"/>
              <a:cs typeface="Comic Sans MS"/>
              <a:sym typeface="Comic Sans MS"/>
            </a:endParaRPr>
          </a:p>
        </p:txBody>
      </p:sp>
      <p:pic>
        <p:nvPicPr>
          <p:cNvPr descr="computer" id="147" name="Google Shape;147;p7"/>
          <p:cNvPicPr preferRelativeResize="0"/>
          <p:nvPr/>
        </p:nvPicPr>
        <p:blipFill rotWithShape="1">
          <a:blip r:embed="rId4">
            <a:alphaModFix/>
          </a:blip>
          <a:srcRect b="0" l="0" r="0" t="0"/>
          <a:stretch/>
        </p:blipFill>
        <p:spPr>
          <a:xfrm>
            <a:off x="6676390" y="3862705"/>
            <a:ext cx="5824855" cy="2515870"/>
          </a:xfrm>
          <a:prstGeom prst="rect">
            <a:avLst/>
          </a:prstGeom>
          <a:noFill/>
          <a:ln>
            <a:noFill/>
          </a:ln>
        </p:spPr>
      </p:pic>
      <p:sp>
        <p:nvSpPr>
          <p:cNvPr id="148" name="Google Shape;148;p7"/>
          <p:cNvSpPr txBox="1"/>
          <p:nvPr/>
        </p:nvSpPr>
        <p:spPr>
          <a:xfrm>
            <a:off x="7952105" y="4602480"/>
            <a:ext cx="3273425"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ALTER TABLE Customers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ADD PassportNumber VARCHAR(20);</a:t>
            </a:r>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49" name="Google Shape;149;p7"/>
          <p:cNvSpPr txBox="1"/>
          <p:nvPr/>
        </p:nvSpPr>
        <p:spPr>
          <a:xfrm>
            <a:off x="1436370" y="3699510"/>
            <a:ext cx="86614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Bell MT"/>
                <a:ea typeface="Bell MT"/>
                <a:cs typeface="Bell MT"/>
                <a:sym typeface="Bell MT"/>
              </a:rPr>
              <a:t>Syntax</a:t>
            </a:r>
            <a:endParaRPr b="0" i="0" sz="1800" u="none" cap="none" strike="noStrike">
              <a:solidFill>
                <a:schemeClr val="dk1"/>
              </a:solidFill>
              <a:latin typeface="Calibri"/>
              <a:ea typeface="Calibri"/>
              <a:cs typeface="Calibri"/>
              <a:sym typeface="Calibri"/>
            </a:endParaRPr>
          </a:p>
        </p:txBody>
      </p:sp>
      <p:sp>
        <p:nvSpPr>
          <p:cNvPr id="150" name="Google Shape;150;p7"/>
          <p:cNvSpPr/>
          <p:nvPr/>
        </p:nvSpPr>
        <p:spPr>
          <a:xfrm>
            <a:off x="931545" y="1504315"/>
            <a:ext cx="6369685" cy="1884680"/>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The ALTER statement is used to modify the structure of existing database objects. It can be used to add or drop columns, modify data types, rename objects, or add constraints.</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par>
                                <p:cTn fill="hold" nodeType="with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par>
                                <p:cTn fill="hold" nodeType="with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par>
                                <p:cTn fill="hold" nodeType="with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8"/>
          <p:cNvSpPr/>
          <p:nvPr/>
        </p:nvSpPr>
        <p:spPr>
          <a:xfrm>
            <a:off x="602615" y="1760855"/>
            <a:ext cx="6369685" cy="1317625"/>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The DROP statement is used to delete database objects from the database. Here are some common uses:</a:t>
            </a:r>
            <a:endParaRPr b="0" i="0" sz="1600" u="none" cap="none" strike="noStrike">
              <a:solidFill>
                <a:schemeClr val="lt1"/>
              </a:solidFill>
              <a:latin typeface="Comic Sans MS"/>
              <a:ea typeface="Comic Sans MS"/>
              <a:cs typeface="Comic Sans MS"/>
              <a:sym typeface="Comic Sans MS"/>
            </a:endParaRPr>
          </a:p>
        </p:txBody>
      </p:sp>
      <p:pic>
        <p:nvPicPr>
          <p:cNvPr descr="4952527" id="156" name="Google Shape;156;p8"/>
          <p:cNvPicPr preferRelativeResize="0"/>
          <p:nvPr>
            <p:ph idx="1" type="body"/>
          </p:nvPr>
        </p:nvPicPr>
        <p:blipFill rotWithShape="1">
          <a:blip r:embed="rId3">
            <a:alphaModFix/>
          </a:blip>
          <a:srcRect b="0" l="0" r="0" t="0"/>
          <a:stretch/>
        </p:blipFill>
        <p:spPr>
          <a:xfrm>
            <a:off x="7266940" y="1553210"/>
            <a:ext cx="4351655" cy="5108575"/>
          </a:xfrm>
          <a:prstGeom prst="rect">
            <a:avLst/>
          </a:prstGeom>
          <a:noFill/>
          <a:ln>
            <a:noFill/>
          </a:ln>
        </p:spPr>
      </p:pic>
      <p:pic>
        <p:nvPicPr>
          <p:cNvPr descr="Aitrich-Logo-Transparent-BG-2048x671" id="157" name="Google Shape;157;p8"/>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158" name="Google Shape;158;p8"/>
          <p:cNvSpPr/>
          <p:nvPr/>
        </p:nvSpPr>
        <p:spPr>
          <a:xfrm>
            <a:off x="541020" y="43497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2060"/>
              </a:buClr>
              <a:buSzPts val="4000"/>
              <a:buFont typeface="Bell MT"/>
              <a:buNone/>
            </a:pPr>
            <a:r>
              <a:rPr b="1" i="0" lang="en-US" sz="4000" u="none" cap="none" strike="noStrike">
                <a:solidFill>
                  <a:srgbClr val="002060"/>
                </a:solidFill>
                <a:latin typeface="Bell MT"/>
                <a:ea typeface="Bell MT"/>
                <a:cs typeface="Bell MT"/>
                <a:sym typeface="Bell MT"/>
              </a:rPr>
              <a:t>3. Drop Statement:</a:t>
            </a:r>
            <a:endParaRPr b="1" i="0" sz="4000" u="none" cap="none" strike="noStrike">
              <a:solidFill>
                <a:srgbClr val="002060"/>
              </a:solidFill>
              <a:latin typeface="Bell MT"/>
              <a:ea typeface="Bell MT"/>
              <a:cs typeface="Bell MT"/>
              <a:sym typeface="Bell MT"/>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Aitrich-Logo-Transparent-BG-2048x671" id="163" name="Google Shape;163;p9"/>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164" name="Google Shape;164;p9"/>
          <p:cNvSpPr txBox="1"/>
          <p:nvPr/>
        </p:nvSpPr>
        <p:spPr>
          <a:xfrm>
            <a:off x="869315" y="665480"/>
            <a:ext cx="383032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Bell MT"/>
                <a:ea typeface="Bell MT"/>
                <a:cs typeface="Bell MT"/>
                <a:sym typeface="Bell MT"/>
              </a:rPr>
              <a:t>a) DROP Table:</a:t>
            </a:r>
            <a:endParaRPr b="1" i="0" sz="2000" u="none" cap="none" strike="noStrike">
              <a:solidFill>
                <a:schemeClr val="dk1"/>
              </a:solidFill>
              <a:latin typeface="Bell MT"/>
              <a:ea typeface="Bell MT"/>
              <a:cs typeface="Bell MT"/>
              <a:sym typeface="Bell MT"/>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Bell MT"/>
              <a:ea typeface="Bell MT"/>
              <a:cs typeface="Bell MT"/>
              <a:sym typeface="Bell MT"/>
            </a:endParaRPr>
          </a:p>
        </p:txBody>
      </p:sp>
      <p:pic>
        <p:nvPicPr>
          <p:cNvPr descr="computer" id="165" name="Google Shape;165;p9"/>
          <p:cNvPicPr preferRelativeResize="0"/>
          <p:nvPr>
            <p:ph idx="1" type="body"/>
          </p:nvPr>
        </p:nvPicPr>
        <p:blipFill rotWithShape="1">
          <a:blip r:embed="rId4">
            <a:alphaModFix/>
          </a:blip>
          <a:srcRect b="0" l="0" r="0" t="0"/>
          <a:stretch/>
        </p:blipFill>
        <p:spPr>
          <a:xfrm>
            <a:off x="251460" y="3670300"/>
            <a:ext cx="5824855" cy="2258060"/>
          </a:xfrm>
          <a:prstGeom prst="rect">
            <a:avLst/>
          </a:prstGeom>
          <a:noFill/>
          <a:ln>
            <a:noFill/>
          </a:ln>
        </p:spPr>
      </p:pic>
      <p:sp>
        <p:nvSpPr>
          <p:cNvPr id="166" name="Google Shape;166;p9"/>
          <p:cNvSpPr txBox="1"/>
          <p:nvPr/>
        </p:nvSpPr>
        <p:spPr>
          <a:xfrm>
            <a:off x="1599565" y="4375150"/>
            <a:ext cx="3273425" cy="2755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DROP TABLE table_name;</a:t>
            </a:r>
            <a:endParaRPr b="0" i="0" sz="1200" u="none" cap="none" strike="noStrike">
              <a:solidFill>
                <a:schemeClr val="dk1"/>
              </a:solidFill>
              <a:latin typeface="Arial"/>
              <a:ea typeface="Arial"/>
              <a:cs typeface="Arial"/>
              <a:sym typeface="Arial"/>
            </a:endParaRPr>
          </a:p>
        </p:txBody>
      </p:sp>
      <p:sp>
        <p:nvSpPr>
          <p:cNvPr id="167" name="Google Shape;167;p9"/>
          <p:cNvSpPr txBox="1"/>
          <p:nvPr/>
        </p:nvSpPr>
        <p:spPr>
          <a:xfrm>
            <a:off x="7324725" y="3456940"/>
            <a:ext cx="2540000" cy="42989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chemeClr val="lt1"/>
              </a:buClr>
              <a:buSzPts val="1800"/>
              <a:buFont typeface="Arial"/>
              <a:buNone/>
            </a:pPr>
            <a:r>
              <a:rPr b="1" i="0" lang="en-US" sz="2000" u="none" cap="none" strike="noStrike">
                <a:solidFill>
                  <a:srgbClr val="002060"/>
                </a:solidFill>
                <a:latin typeface="Bell MT"/>
                <a:ea typeface="Bell MT"/>
                <a:cs typeface="Bell MT"/>
                <a:sym typeface="Bell MT"/>
              </a:rPr>
              <a:t>Example</a:t>
            </a:r>
            <a:r>
              <a:rPr b="0" i="0" lang="en-US" sz="1600" u="none" cap="none" strike="noStrike">
                <a:solidFill>
                  <a:srgbClr val="002060"/>
                </a:solidFill>
                <a:latin typeface="Comic Sans MS"/>
                <a:ea typeface="Comic Sans MS"/>
                <a:cs typeface="Comic Sans MS"/>
                <a:sym typeface="Comic Sans MS"/>
              </a:rPr>
              <a:t>:</a:t>
            </a:r>
            <a:endParaRPr b="1" i="0" sz="1600" u="none" cap="none" strike="noStrike">
              <a:solidFill>
                <a:srgbClr val="002060"/>
              </a:solidFill>
              <a:latin typeface="Comic Sans MS"/>
              <a:ea typeface="Comic Sans MS"/>
              <a:cs typeface="Comic Sans MS"/>
              <a:sym typeface="Comic Sans MS"/>
            </a:endParaRPr>
          </a:p>
        </p:txBody>
      </p:sp>
      <p:pic>
        <p:nvPicPr>
          <p:cNvPr descr="computer" id="168" name="Google Shape;168;p9"/>
          <p:cNvPicPr preferRelativeResize="0"/>
          <p:nvPr/>
        </p:nvPicPr>
        <p:blipFill rotWithShape="1">
          <a:blip r:embed="rId4">
            <a:alphaModFix/>
          </a:blip>
          <a:srcRect b="0" l="0" r="0" t="0"/>
          <a:stretch/>
        </p:blipFill>
        <p:spPr>
          <a:xfrm>
            <a:off x="6367145" y="3886835"/>
            <a:ext cx="5824855" cy="2330450"/>
          </a:xfrm>
          <a:prstGeom prst="rect">
            <a:avLst/>
          </a:prstGeom>
          <a:noFill/>
          <a:ln>
            <a:noFill/>
          </a:ln>
        </p:spPr>
      </p:pic>
      <p:sp>
        <p:nvSpPr>
          <p:cNvPr id="169" name="Google Shape;169;p9"/>
          <p:cNvSpPr txBox="1"/>
          <p:nvPr/>
        </p:nvSpPr>
        <p:spPr>
          <a:xfrm>
            <a:off x="7642860" y="4551045"/>
            <a:ext cx="3273425"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DROP TABLE </a:t>
            </a:r>
            <a:r>
              <a:rPr b="0" i="0" lang="en-US" sz="1400" u="none" cap="none" strike="noStrike">
                <a:solidFill>
                  <a:srgbClr val="000000"/>
                </a:solidFill>
                <a:latin typeface="Arial"/>
                <a:ea typeface="Arial"/>
                <a:cs typeface="Arial"/>
                <a:sym typeface="Arial"/>
              </a:rPr>
              <a:t>Customers</a:t>
            </a:r>
            <a:r>
              <a:rPr b="0" i="0" lang="en-US" sz="12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sp>
        <p:nvSpPr>
          <p:cNvPr id="170" name="Google Shape;170;p9"/>
          <p:cNvSpPr txBox="1"/>
          <p:nvPr/>
        </p:nvSpPr>
        <p:spPr>
          <a:xfrm>
            <a:off x="1281430" y="3462655"/>
            <a:ext cx="86614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Bell MT"/>
                <a:ea typeface="Bell MT"/>
                <a:cs typeface="Bell MT"/>
                <a:sym typeface="Bell MT"/>
              </a:rPr>
              <a:t>Syntax</a:t>
            </a:r>
            <a:endParaRPr b="0" i="0" sz="1800" u="none" cap="none" strike="noStrike">
              <a:solidFill>
                <a:schemeClr val="dk1"/>
              </a:solidFill>
              <a:latin typeface="Calibri"/>
              <a:ea typeface="Calibri"/>
              <a:cs typeface="Calibri"/>
              <a:sym typeface="Calibri"/>
            </a:endParaRPr>
          </a:p>
        </p:txBody>
      </p:sp>
      <p:sp>
        <p:nvSpPr>
          <p:cNvPr id="171" name="Google Shape;171;p9"/>
          <p:cNvSpPr/>
          <p:nvPr/>
        </p:nvSpPr>
        <p:spPr>
          <a:xfrm>
            <a:off x="797560" y="1504315"/>
            <a:ext cx="6369685" cy="1431290"/>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DROP TABLE: This statement is used to delete an entire table from the database. The syntax is as follows:</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par>
                                <p:cTn fill="hold" nodeType="with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descr="4952527" id="176" name="Google Shape;176;p10"/>
          <p:cNvPicPr preferRelativeResize="0"/>
          <p:nvPr>
            <p:ph idx="1" type="body"/>
          </p:nvPr>
        </p:nvPicPr>
        <p:blipFill rotWithShape="1">
          <a:blip r:embed="rId3">
            <a:alphaModFix/>
          </a:blip>
          <a:srcRect b="0" l="0" r="0" t="0"/>
          <a:stretch/>
        </p:blipFill>
        <p:spPr>
          <a:xfrm>
            <a:off x="7266940" y="1553210"/>
            <a:ext cx="4351655" cy="5108575"/>
          </a:xfrm>
          <a:prstGeom prst="rect">
            <a:avLst/>
          </a:prstGeom>
          <a:noFill/>
          <a:ln>
            <a:noFill/>
          </a:ln>
        </p:spPr>
      </p:pic>
      <p:pic>
        <p:nvPicPr>
          <p:cNvPr descr="Aitrich-Logo-Transparent-BG-2048x671" id="177" name="Google Shape;177;p10"/>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178" name="Google Shape;178;p10"/>
          <p:cNvSpPr/>
          <p:nvPr/>
        </p:nvSpPr>
        <p:spPr>
          <a:xfrm>
            <a:off x="541020" y="43497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2060"/>
              </a:buClr>
              <a:buSzPts val="4000"/>
              <a:buFont typeface="Bell MT"/>
              <a:buNone/>
            </a:pPr>
            <a:r>
              <a:rPr b="1" i="0" lang="en-US" sz="4000" u="none" cap="none" strike="noStrike">
                <a:solidFill>
                  <a:srgbClr val="002060"/>
                </a:solidFill>
                <a:latin typeface="Bell MT"/>
                <a:ea typeface="Bell MT"/>
                <a:cs typeface="Bell MT"/>
                <a:sym typeface="Bell MT"/>
              </a:rPr>
              <a:t>4. RENAME Statement:</a:t>
            </a:r>
            <a:endParaRPr b="1" i="0" sz="4000" u="none" cap="none" strike="noStrike">
              <a:solidFill>
                <a:srgbClr val="002060"/>
              </a:solidFill>
              <a:latin typeface="Bell MT"/>
              <a:ea typeface="Bell MT"/>
              <a:cs typeface="Bell MT"/>
              <a:sym typeface="Bell MT"/>
            </a:endParaRPr>
          </a:p>
        </p:txBody>
      </p:sp>
      <p:sp>
        <p:nvSpPr>
          <p:cNvPr id="179" name="Google Shape;179;p10"/>
          <p:cNvSpPr/>
          <p:nvPr/>
        </p:nvSpPr>
        <p:spPr>
          <a:xfrm>
            <a:off x="797560" y="1905000"/>
            <a:ext cx="6369685" cy="1172845"/>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The RENAME statement is used to rename database objects.</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descr="Aitrich-Logo-Transparent-BG-2048x671" id="184" name="Google Shape;184;p11"/>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185" name="Google Shape;185;p11"/>
          <p:cNvSpPr txBox="1"/>
          <p:nvPr/>
        </p:nvSpPr>
        <p:spPr>
          <a:xfrm>
            <a:off x="745490" y="665480"/>
            <a:ext cx="383032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Bell MT"/>
                <a:ea typeface="Bell MT"/>
                <a:cs typeface="Bell MT"/>
                <a:sym typeface="Bell MT"/>
              </a:rPr>
              <a:t>a) RENAME Table:</a:t>
            </a:r>
            <a:endParaRPr b="1" i="0" sz="2000" u="none" cap="none" strike="noStrike">
              <a:solidFill>
                <a:schemeClr val="dk1"/>
              </a:solidFill>
              <a:latin typeface="Bell MT"/>
              <a:ea typeface="Bell MT"/>
              <a:cs typeface="Bell MT"/>
              <a:sym typeface="Bell MT"/>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Bell MT"/>
              <a:ea typeface="Bell MT"/>
              <a:cs typeface="Bell MT"/>
              <a:sym typeface="Bell MT"/>
            </a:endParaRPr>
          </a:p>
        </p:txBody>
      </p:sp>
      <p:pic>
        <p:nvPicPr>
          <p:cNvPr descr="computer" id="186" name="Google Shape;186;p11"/>
          <p:cNvPicPr preferRelativeResize="0"/>
          <p:nvPr>
            <p:ph idx="1" type="body"/>
          </p:nvPr>
        </p:nvPicPr>
        <p:blipFill rotWithShape="1">
          <a:blip r:embed="rId4">
            <a:alphaModFix/>
          </a:blip>
          <a:srcRect b="0" l="0" r="0" t="0"/>
          <a:stretch/>
        </p:blipFill>
        <p:spPr>
          <a:xfrm>
            <a:off x="-208915" y="3318510"/>
            <a:ext cx="5824855" cy="2258060"/>
          </a:xfrm>
          <a:prstGeom prst="rect">
            <a:avLst/>
          </a:prstGeom>
          <a:noFill/>
          <a:ln>
            <a:noFill/>
          </a:ln>
        </p:spPr>
      </p:pic>
      <p:sp>
        <p:nvSpPr>
          <p:cNvPr id="187" name="Google Shape;187;p11"/>
          <p:cNvSpPr txBox="1"/>
          <p:nvPr/>
        </p:nvSpPr>
        <p:spPr>
          <a:xfrm>
            <a:off x="1139190" y="4013200"/>
            <a:ext cx="3273425"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EXEC sp_rename 'old_table_name', 'new_table_name'  </a:t>
            </a:r>
            <a:endParaRPr b="0" i="0" sz="1200" u="none" cap="none" strike="noStrike">
              <a:solidFill>
                <a:schemeClr val="dk1"/>
              </a:solidFill>
              <a:latin typeface="Arial"/>
              <a:ea typeface="Arial"/>
              <a:cs typeface="Arial"/>
              <a:sym typeface="Arial"/>
            </a:endParaRPr>
          </a:p>
        </p:txBody>
      </p:sp>
      <p:pic>
        <p:nvPicPr>
          <p:cNvPr descr="computer" id="188" name="Google Shape;188;p11"/>
          <p:cNvPicPr preferRelativeResize="0"/>
          <p:nvPr/>
        </p:nvPicPr>
        <p:blipFill rotWithShape="1">
          <a:blip r:embed="rId4">
            <a:alphaModFix/>
          </a:blip>
          <a:srcRect b="0" l="0" r="0" t="0"/>
          <a:stretch/>
        </p:blipFill>
        <p:spPr>
          <a:xfrm>
            <a:off x="6724650" y="3189605"/>
            <a:ext cx="5824855" cy="2515870"/>
          </a:xfrm>
          <a:prstGeom prst="rect">
            <a:avLst/>
          </a:prstGeom>
          <a:noFill/>
          <a:ln>
            <a:noFill/>
          </a:ln>
        </p:spPr>
      </p:pic>
      <p:sp>
        <p:nvSpPr>
          <p:cNvPr id="189" name="Google Shape;189;p11"/>
          <p:cNvSpPr txBox="1"/>
          <p:nvPr/>
        </p:nvSpPr>
        <p:spPr>
          <a:xfrm>
            <a:off x="8000364" y="4050388"/>
            <a:ext cx="3652920"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EXEC sp_rename '</a:t>
            </a:r>
            <a:r>
              <a:rPr b="0" i="0" lang="en-US" sz="1400" u="none" cap="none" strike="noStrike">
                <a:solidFill>
                  <a:srgbClr val="000000"/>
                </a:solidFill>
                <a:latin typeface="Arial"/>
                <a:ea typeface="Arial"/>
                <a:cs typeface="Arial"/>
                <a:sym typeface="Arial"/>
              </a:rPr>
              <a:t> Customer</a:t>
            </a:r>
            <a:r>
              <a:rPr b="0" i="0" lang="en-US" sz="1200" u="none" cap="none" strike="noStrike">
                <a:solidFill>
                  <a:schemeClr val="dk1"/>
                </a:solidFill>
                <a:latin typeface="Arial"/>
                <a:ea typeface="Arial"/>
                <a:cs typeface="Arial"/>
                <a:sym typeface="Arial"/>
              </a:rPr>
              <a:t>','</a:t>
            </a:r>
            <a:r>
              <a:rPr b="0" i="0" lang="en-US" sz="1400" u="none" cap="none" strike="noStrike">
                <a:solidFill>
                  <a:srgbClr val="000000"/>
                </a:solidFill>
                <a:latin typeface="Arial"/>
                <a:ea typeface="Arial"/>
                <a:cs typeface="Arial"/>
                <a:sym typeface="Arial"/>
              </a:rPr>
              <a:t>Customers</a:t>
            </a:r>
            <a:r>
              <a:rPr b="0" i="0" lang="en-US"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p:txBody>
      </p:sp>
      <p:sp>
        <p:nvSpPr>
          <p:cNvPr id="190" name="Google Shape;190;p11"/>
          <p:cNvSpPr txBox="1"/>
          <p:nvPr/>
        </p:nvSpPr>
        <p:spPr>
          <a:xfrm>
            <a:off x="821055" y="3100705"/>
            <a:ext cx="86614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Bell MT"/>
                <a:ea typeface="Bell MT"/>
                <a:cs typeface="Bell MT"/>
                <a:sym typeface="Bell MT"/>
              </a:rPr>
              <a:t>Syntax</a:t>
            </a:r>
            <a:endParaRPr b="0" i="0" sz="1800" u="none" cap="none" strike="noStrike">
              <a:solidFill>
                <a:schemeClr val="dk1"/>
              </a:solidFill>
              <a:latin typeface="Calibri"/>
              <a:ea typeface="Calibri"/>
              <a:cs typeface="Calibri"/>
              <a:sym typeface="Calibri"/>
            </a:endParaRPr>
          </a:p>
        </p:txBody>
      </p:sp>
      <p:sp>
        <p:nvSpPr>
          <p:cNvPr id="191" name="Google Shape;191;p11"/>
          <p:cNvSpPr/>
          <p:nvPr/>
        </p:nvSpPr>
        <p:spPr>
          <a:xfrm>
            <a:off x="745490" y="1504315"/>
            <a:ext cx="6369685" cy="1091565"/>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rPr b="0" i="0" lang="en-US" sz="1800" u="none" cap="none" strike="noStrike">
                <a:solidFill>
                  <a:schemeClr val="lt1"/>
                </a:solidFill>
                <a:latin typeface="Comic Sans MS"/>
                <a:ea typeface="Comic Sans MS"/>
                <a:cs typeface="Comic Sans MS"/>
                <a:sym typeface="Comic Sans MS"/>
              </a:rPr>
              <a:t>This syntax renames an existing table.</a:t>
            </a:r>
            <a:endParaRPr b="0" i="0" sz="1800" u="none" cap="none" strike="noStrike">
              <a:solidFill>
                <a:schemeClr val="lt1"/>
              </a:solidFill>
              <a:latin typeface="Comic Sans MS"/>
              <a:ea typeface="Comic Sans MS"/>
              <a:cs typeface="Comic Sans MS"/>
              <a:sym typeface="Comic Sans MS"/>
            </a:endParaRPr>
          </a:p>
        </p:txBody>
      </p:sp>
      <p:sp>
        <p:nvSpPr>
          <p:cNvPr id="192" name="Google Shape;192;p11"/>
          <p:cNvSpPr txBox="1"/>
          <p:nvPr/>
        </p:nvSpPr>
        <p:spPr>
          <a:xfrm>
            <a:off x="7847965" y="2888615"/>
            <a:ext cx="2540000" cy="42989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chemeClr val="lt1"/>
              </a:buClr>
              <a:buSzPts val="1800"/>
              <a:buFont typeface="Arial"/>
              <a:buNone/>
            </a:pPr>
            <a:r>
              <a:rPr b="1" i="0" lang="en-US" sz="2000" u="none" cap="none" strike="noStrike">
                <a:solidFill>
                  <a:srgbClr val="002060"/>
                </a:solidFill>
                <a:latin typeface="Bell MT"/>
                <a:ea typeface="Bell MT"/>
                <a:cs typeface="Bell MT"/>
                <a:sym typeface="Bell MT"/>
              </a:rPr>
              <a:t>Example</a:t>
            </a:r>
            <a:r>
              <a:rPr b="0" i="0" lang="en-US" sz="1600" u="none" cap="none" strike="noStrike">
                <a:solidFill>
                  <a:srgbClr val="002060"/>
                </a:solidFill>
                <a:latin typeface="Comic Sans MS"/>
                <a:ea typeface="Comic Sans MS"/>
                <a:cs typeface="Comic Sans MS"/>
                <a:sym typeface="Comic Sans MS"/>
              </a:rPr>
              <a:t>:</a:t>
            </a:r>
            <a:endParaRPr b="1" i="0" sz="1600" u="none" cap="none" strike="noStrike">
              <a:solidFill>
                <a:srgbClr val="002060"/>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par>
                                <p:cTn fill="hold" nodeType="with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par>
                                <p:cTn fill="hold" nodeType="with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par>
                                <p:cTn fill="hold" nodeType="with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descr="4952527" id="197" name="Google Shape;197;p12"/>
          <p:cNvPicPr preferRelativeResize="0"/>
          <p:nvPr>
            <p:ph idx="1" type="body"/>
          </p:nvPr>
        </p:nvPicPr>
        <p:blipFill rotWithShape="1">
          <a:blip r:embed="rId3">
            <a:alphaModFix/>
          </a:blip>
          <a:srcRect b="0" l="0" r="0" t="0"/>
          <a:stretch/>
        </p:blipFill>
        <p:spPr>
          <a:xfrm>
            <a:off x="7266940" y="1553210"/>
            <a:ext cx="4351655" cy="5108575"/>
          </a:xfrm>
          <a:prstGeom prst="rect">
            <a:avLst/>
          </a:prstGeom>
          <a:noFill/>
          <a:ln>
            <a:noFill/>
          </a:ln>
        </p:spPr>
      </p:pic>
      <p:pic>
        <p:nvPicPr>
          <p:cNvPr descr="Aitrich-Logo-Transparent-BG-2048x671" id="198" name="Google Shape;198;p12"/>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
        <p:nvSpPr>
          <p:cNvPr id="199" name="Google Shape;199;p12"/>
          <p:cNvSpPr/>
          <p:nvPr/>
        </p:nvSpPr>
        <p:spPr>
          <a:xfrm>
            <a:off x="541020" y="43497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2060"/>
              </a:buClr>
              <a:buSzPts val="4000"/>
              <a:buFont typeface="Bell MT"/>
              <a:buNone/>
            </a:pPr>
            <a:r>
              <a:rPr b="1" i="0" lang="en-US" sz="4000" u="none" cap="none" strike="noStrike">
                <a:solidFill>
                  <a:srgbClr val="002060"/>
                </a:solidFill>
                <a:latin typeface="Bell MT"/>
                <a:ea typeface="Bell MT"/>
                <a:cs typeface="Bell MT"/>
                <a:sym typeface="Bell MT"/>
              </a:rPr>
              <a:t>CONSTRAINTS</a:t>
            </a:r>
            <a:endParaRPr b="1" i="0" sz="4000" u="none" cap="none" strike="noStrike">
              <a:solidFill>
                <a:srgbClr val="002060"/>
              </a:solidFill>
              <a:latin typeface="Bell MT"/>
              <a:ea typeface="Bell MT"/>
              <a:cs typeface="Bell MT"/>
              <a:sym typeface="Bell MT"/>
            </a:endParaRPr>
          </a:p>
        </p:txBody>
      </p:sp>
      <p:sp>
        <p:nvSpPr>
          <p:cNvPr id="200" name="Google Shape;200;p12"/>
          <p:cNvSpPr/>
          <p:nvPr/>
        </p:nvSpPr>
        <p:spPr>
          <a:xfrm>
            <a:off x="797560" y="1905000"/>
            <a:ext cx="6369685" cy="1172845"/>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Constraints in SQL are rules or conditions applied to the columns or tables to enforce data integrity and ensure that the data meets certain requirements. </a:t>
            </a:r>
            <a:endParaRPr b="0" i="0" sz="1600" u="none" cap="none" strike="noStrike">
              <a:solidFill>
                <a:schemeClr val="lt1"/>
              </a:solidFill>
              <a:latin typeface="Comic Sans MS"/>
              <a:ea typeface="Comic Sans MS"/>
              <a:cs typeface="Comic Sans MS"/>
              <a:sym typeface="Comic Sans MS"/>
            </a:endParaRPr>
          </a:p>
        </p:txBody>
      </p:sp>
      <p:sp>
        <p:nvSpPr>
          <p:cNvPr id="201" name="Google Shape;201;p12"/>
          <p:cNvSpPr/>
          <p:nvPr/>
        </p:nvSpPr>
        <p:spPr>
          <a:xfrm>
            <a:off x="797560" y="4312285"/>
            <a:ext cx="6369685" cy="709295"/>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Here are the commonly used constraints in SQL:</a:t>
            </a:r>
            <a:endParaRPr b="0" i="0" sz="1600" u="none" cap="none" strike="noStrike">
              <a:solidFill>
                <a:schemeClr val="lt1"/>
              </a:solidFill>
              <a:latin typeface="Comic Sans MS"/>
              <a:ea typeface="Comic Sans MS"/>
              <a:cs typeface="Comic Sans MS"/>
              <a:sym typeface="Comic Sans MS"/>
            </a:endParaRPr>
          </a:p>
        </p:txBody>
      </p:sp>
      <p:sp>
        <p:nvSpPr>
          <p:cNvPr id="202" name="Google Shape;202;p12"/>
          <p:cNvSpPr/>
          <p:nvPr/>
        </p:nvSpPr>
        <p:spPr>
          <a:xfrm>
            <a:off x="797560" y="3221990"/>
            <a:ext cx="6369685" cy="946150"/>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 Constraints help maintain the accuracy, consistency, and validity of the data stored in a database. </a:t>
            </a:r>
            <a:endParaRPr b="0" i="0" sz="1600" u="none" cap="none" strike="noStrike">
              <a:solidFill>
                <a:schemeClr val="lt1"/>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1000"/>
                                        <p:tgtEl>
                                          <p:spTgt spid="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000"/>
                                        <p:tgtEl>
                                          <p:spTgt spid="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descr="Aitrich-Logo-Transparent-BG-2048x671" id="207" name="Google Shape;207;p13"/>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208" name="Google Shape;208;p13"/>
          <p:cNvSpPr txBox="1"/>
          <p:nvPr/>
        </p:nvSpPr>
        <p:spPr>
          <a:xfrm>
            <a:off x="797560" y="429260"/>
            <a:ext cx="5140960" cy="583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2060"/>
                </a:solidFill>
                <a:latin typeface="Bell MT"/>
                <a:ea typeface="Bell MT"/>
                <a:cs typeface="Bell MT"/>
                <a:sym typeface="Bell MT"/>
              </a:rPr>
              <a:t>1. NOT NULL Constraint:</a:t>
            </a:r>
            <a:endParaRPr b="1" i="0" sz="3200" u="none" cap="none" strike="noStrike">
              <a:solidFill>
                <a:srgbClr val="002060"/>
              </a:solidFill>
              <a:latin typeface="Bell MT"/>
              <a:ea typeface="Bell MT"/>
              <a:cs typeface="Bell MT"/>
              <a:sym typeface="Bell MT"/>
            </a:endParaRPr>
          </a:p>
        </p:txBody>
      </p:sp>
      <p:pic>
        <p:nvPicPr>
          <p:cNvPr descr="computer" id="209" name="Google Shape;209;p13"/>
          <p:cNvPicPr preferRelativeResize="0"/>
          <p:nvPr>
            <p:ph idx="1" type="body"/>
          </p:nvPr>
        </p:nvPicPr>
        <p:blipFill rotWithShape="1">
          <a:blip r:embed="rId4">
            <a:alphaModFix/>
          </a:blip>
          <a:srcRect b="0" l="0" r="0" t="0"/>
          <a:stretch/>
        </p:blipFill>
        <p:spPr>
          <a:xfrm>
            <a:off x="113665" y="3499485"/>
            <a:ext cx="5824855" cy="2258060"/>
          </a:xfrm>
          <a:prstGeom prst="rect">
            <a:avLst/>
          </a:prstGeom>
          <a:noFill/>
          <a:ln>
            <a:noFill/>
          </a:ln>
        </p:spPr>
      </p:pic>
      <p:sp>
        <p:nvSpPr>
          <p:cNvPr id="210" name="Google Shape;210;p13"/>
          <p:cNvSpPr txBox="1"/>
          <p:nvPr/>
        </p:nvSpPr>
        <p:spPr>
          <a:xfrm>
            <a:off x="1389380" y="4069715"/>
            <a:ext cx="3273425"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CREATE TABLE table_name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column_name data_type NOT NULL,</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p:txBody>
      </p:sp>
      <p:pic>
        <p:nvPicPr>
          <p:cNvPr descr="computer" id="211" name="Google Shape;211;p13"/>
          <p:cNvPicPr preferRelativeResize="0"/>
          <p:nvPr/>
        </p:nvPicPr>
        <p:blipFill rotWithShape="1">
          <a:blip r:embed="rId4">
            <a:alphaModFix/>
          </a:blip>
          <a:srcRect b="0" l="0" r="0" t="0"/>
          <a:stretch/>
        </p:blipFill>
        <p:spPr>
          <a:xfrm>
            <a:off x="6274435" y="3499485"/>
            <a:ext cx="5824855" cy="2515870"/>
          </a:xfrm>
          <a:prstGeom prst="rect">
            <a:avLst/>
          </a:prstGeom>
          <a:noFill/>
          <a:ln>
            <a:noFill/>
          </a:ln>
        </p:spPr>
      </p:pic>
      <p:sp>
        <p:nvSpPr>
          <p:cNvPr id="212" name="Google Shape;212;p13"/>
          <p:cNvSpPr txBox="1"/>
          <p:nvPr/>
        </p:nvSpPr>
        <p:spPr>
          <a:xfrm>
            <a:off x="7550150" y="4060825"/>
            <a:ext cx="3273425"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CREATE TABLE Customers(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id INT NOT NULL,</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name VARCHAR(50) NOT NULL);</a:t>
            </a:r>
            <a:endParaRPr b="0" i="0" sz="1200" u="none" cap="none" strike="noStrike">
              <a:solidFill>
                <a:schemeClr val="dk1"/>
              </a:solidFill>
              <a:latin typeface="Arial"/>
              <a:ea typeface="Arial"/>
              <a:cs typeface="Arial"/>
              <a:sym typeface="Arial"/>
            </a:endParaRPr>
          </a:p>
        </p:txBody>
      </p:sp>
      <p:sp>
        <p:nvSpPr>
          <p:cNvPr id="213" name="Google Shape;213;p13"/>
          <p:cNvSpPr txBox="1"/>
          <p:nvPr/>
        </p:nvSpPr>
        <p:spPr>
          <a:xfrm>
            <a:off x="1143635" y="3291840"/>
            <a:ext cx="86614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Bell MT"/>
                <a:ea typeface="Bell MT"/>
                <a:cs typeface="Bell MT"/>
                <a:sym typeface="Bell MT"/>
              </a:rPr>
              <a:t>Syntax</a:t>
            </a:r>
            <a:endParaRPr b="0" i="0" sz="1800" u="none" cap="none" strike="noStrike">
              <a:solidFill>
                <a:schemeClr val="dk1"/>
              </a:solidFill>
              <a:latin typeface="Calibri"/>
              <a:ea typeface="Calibri"/>
              <a:cs typeface="Calibri"/>
              <a:sym typeface="Calibri"/>
            </a:endParaRPr>
          </a:p>
        </p:txBody>
      </p:sp>
      <p:sp>
        <p:nvSpPr>
          <p:cNvPr id="214" name="Google Shape;214;p13"/>
          <p:cNvSpPr/>
          <p:nvPr/>
        </p:nvSpPr>
        <p:spPr>
          <a:xfrm>
            <a:off x="797560" y="1504315"/>
            <a:ext cx="6369685" cy="1225550"/>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The NOT NULL constraint ensures that a column cannot contain NULL values, meaning it must always have a value.</a:t>
            </a:r>
            <a:endParaRPr b="0" i="0" sz="1600" u="none" cap="none" strike="noStrike">
              <a:solidFill>
                <a:schemeClr val="lt1"/>
              </a:solidFill>
              <a:latin typeface="Comic Sans MS"/>
              <a:ea typeface="Comic Sans MS"/>
              <a:cs typeface="Comic Sans MS"/>
              <a:sym typeface="Comic Sans MS"/>
            </a:endParaRPr>
          </a:p>
        </p:txBody>
      </p:sp>
      <p:sp>
        <p:nvSpPr>
          <p:cNvPr id="215" name="Google Shape;215;p13"/>
          <p:cNvSpPr txBox="1"/>
          <p:nvPr/>
        </p:nvSpPr>
        <p:spPr>
          <a:xfrm>
            <a:off x="7304405" y="3258820"/>
            <a:ext cx="2540000" cy="42989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chemeClr val="lt1"/>
              </a:buClr>
              <a:buSzPts val="1800"/>
              <a:buFont typeface="Arial"/>
              <a:buNone/>
            </a:pPr>
            <a:r>
              <a:rPr b="1" i="0" lang="en-US" sz="2000" u="none" cap="none" strike="noStrike">
                <a:solidFill>
                  <a:srgbClr val="002060"/>
                </a:solidFill>
                <a:latin typeface="Bell MT"/>
                <a:ea typeface="Bell MT"/>
                <a:cs typeface="Bell MT"/>
                <a:sym typeface="Bell MT"/>
              </a:rPr>
              <a:t>Example</a:t>
            </a:r>
            <a:r>
              <a:rPr b="0" i="0" lang="en-US" sz="1600" u="none" cap="none" strike="noStrike">
                <a:solidFill>
                  <a:srgbClr val="002060"/>
                </a:solidFill>
                <a:latin typeface="Comic Sans MS"/>
                <a:ea typeface="Comic Sans MS"/>
                <a:cs typeface="Comic Sans MS"/>
                <a:sym typeface="Comic Sans MS"/>
              </a:rPr>
              <a:t>:</a:t>
            </a:r>
            <a:endParaRPr b="1" i="0" sz="1600" u="none" cap="none" strike="noStrike">
              <a:solidFill>
                <a:srgbClr val="002060"/>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par>
                                <p:cTn fill="hold" nodeType="with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par>
                                <p:cTn fill="hold" nodeType="with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par>
                                <p:cTn fill="hold" nodeType="with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par>
                                <p:cTn fill="hold" nodeType="with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Aitrich-Logo-Transparent-BG-2048x671" id="220" name="Google Shape;220;p14"/>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221" name="Google Shape;221;p14"/>
          <p:cNvSpPr txBox="1"/>
          <p:nvPr/>
        </p:nvSpPr>
        <p:spPr>
          <a:xfrm>
            <a:off x="797560" y="429260"/>
            <a:ext cx="5662930" cy="583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2060"/>
                </a:solidFill>
                <a:latin typeface="Bell MT"/>
                <a:ea typeface="Bell MT"/>
                <a:cs typeface="Bell MT"/>
                <a:sym typeface="Bell MT"/>
              </a:rPr>
              <a:t>2. PRIMARY KEY Constraint:</a:t>
            </a:r>
            <a:endParaRPr b="1" i="0" sz="3200" u="none" cap="none" strike="noStrike">
              <a:solidFill>
                <a:srgbClr val="002060"/>
              </a:solidFill>
              <a:latin typeface="Bell MT"/>
              <a:ea typeface="Bell MT"/>
              <a:cs typeface="Bell MT"/>
              <a:sym typeface="Bell MT"/>
            </a:endParaRPr>
          </a:p>
        </p:txBody>
      </p:sp>
      <p:pic>
        <p:nvPicPr>
          <p:cNvPr descr="computer" id="222" name="Google Shape;222;p14"/>
          <p:cNvPicPr preferRelativeResize="0"/>
          <p:nvPr>
            <p:ph idx="1" type="body"/>
          </p:nvPr>
        </p:nvPicPr>
        <p:blipFill rotWithShape="1">
          <a:blip r:embed="rId4">
            <a:alphaModFix/>
          </a:blip>
          <a:srcRect b="0" l="0" r="0" t="0"/>
          <a:stretch/>
        </p:blipFill>
        <p:spPr>
          <a:xfrm>
            <a:off x="0" y="3678555"/>
            <a:ext cx="5824855" cy="2258060"/>
          </a:xfrm>
          <a:prstGeom prst="rect">
            <a:avLst/>
          </a:prstGeom>
          <a:noFill/>
          <a:ln>
            <a:noFill/>
          </a:ln>
        </p:spPr>
      </p:pic>
      <p:sp>
        <p:nvSpPr>
          <p:cNvPr id="223" name="Google Shape;223;p14"/>
          <p:cNvSpPr txBox="1"/>
          <p:nvPr/>
        </p:nvSpPr>
        <p:spPr>
          <a:xfrm>
            <a:off x="1275715" y="4166235"/>
            <a:ext cx="3273425"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CREATE TABLE table_name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column_name data_type PRIMARY KEY,</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p:txBody>
      </p:sp>
      <p:sp>
        <p:nvSpPr>
          <p:cNvPr id="224" name="Google Shape;224;p14"/>
          <p:cNvSpPr txBox="1"/>
          <p:nvPr/>
        </p:nvSpPr>
        <p:spPr>
          <a:xfrm>
            <a:off x="1029970" y="3470910"/>
            <a:ext cx="86614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Bell MT"/>
                <a:ea typeface="Bell MT"/>
                <a:cs typeface="Bell MT"/>
                <a:sym typeface="Bell MT"/>
              </a:rPr>
              <a:t>Syntax</a:t>
            </a:r>
            <a:endParaRPr b="0" i="0" sz="1800" u="none" cap="none" strike="noStrike">
              <a:solidFill>
                <a:schemeClr val="dk1"/>
              </a:solidFill>
              <a:latin typeface="Calibri"/>
              <a:ea typeface="Calibri"/>
              <a:cs typeface="Calibri"/>
              <a:sym typeface="Calibri"/>
            </a:endParaRPr>
          </a:p>
        </p:txBody>
      </p:sp>
      <p:sp>
        <p:nvSpPr>
          <p:cNvPr id="225" name="Google Shape;225;p14"/>
          <p:cNvSpPr/>
          <p:nvPr/>
        </p:nvSpPr>
        <p:spPr>
          <a:xfrm>
            <a:off x="797560" y="1494155"/>
            <a:ext cx="6369685" cy="1327785"/>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The PRIMARY KEY constraint uniquely identifies each record in a table. It ensures that the specified column or combination of columns has unique values and cannot contain NULL</a:t>
            </a:r>
            <a:endParaRPr b="0" i="0" sz="1600" u="none" cap="none" strike="noStrike">
              <a:solidFill>
                <a:schemeClr val="lt1"/>
              </a:solidFill>
              <a:latin typeface="Comic Sans MS"/>
              <a:ea typeface="Comic Sans MS"/>
              <a:cs typeface="Comic Sans MS"/>
              <a:sym typeface="Comic Sans MS"/>
            </a:endParaRPr>
          </a:p>
        </p:txBody>
      </p:sp>
      <p:pic>
        <p:nvPicPr>
          <p:cNvPr descr="computer" id="226" name="Google Shape;226;p14"/>
          <p:cNvPicPr preferRelativeResize="0"/>
          <p:nvPr/>
        </p:nvPicPr>
        <p:blipFill rotWithShape="1">
          <a:blip r:embed="rId4">
            <a:alphaModFix/>
          </a:blip>
          <a:srcRect b="0" l="0" r="0" t="0"/>
          <a:stretch/>
        </p:blipFill>
        <p:spPr>
          <a:xfrm>
            <a:off x="6460490" y="3549650"/>
            <a:ext cx="5824855" cy="2515870"/>
          </a:xfrm>
          <a:prstGeom prst="rect">
            <a:avLst/>
          </a:prstGeom>
          <a:noFill/>
          <a:ln>
            <a:noFill/>
          </a:ln>
        </p:spPr>
      </p:pic>
      <p:sp>
        <p:nvSpPr>
          <p:cNvPr id="227" name="Google Shape;227;p14"/>
          <p:cNvSpPr txBox="1"/>
          <p:nvPr/>
        </p:nvSpPr>
        <p:spPr>
          <a:xfrm>
            <a:off x="7736205" y="4110990"/>
            <a:ext cx="3273425" cy="6770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CREATE TABLE </a:t>
            </a:r>
            <a:r>
              <a:rPr b="0" i="0" lang="en-US" sz="1400" u="none" cap="none" strike="noStrike">
                <a:solidFill>
                  <a:srgbClr val="000000"/>
                </a:solidFill>
                <a:latin typeface="Arial"/>
                <a:ea typeface="Arial"/>
                <a:cs typeface="Arial"/>
                <a:sym typeface="Arial"/>
              </a:rPr>
              <a:t>Customers</a:t>
            </a:r>
            <a:r>
              <a:rPr b="0" i="0" lang="en-US" sz="12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id INT PRIMARY KEY,</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name VARCHAR(50));</a:t>
            </a:r>
            <a:endParaRPr b="0" i="0" sz="1200" u="none" cap="none" strike="noStrike">
              <a:solidFill>
                <a:schemeClr val="dk1"/>
              </a:solidFill>
              <a:latin typeface="Arial"/>
              <a:ea typeface="Arial"/>
              <a:cs typeface="Arial"/>
              <a:sym typeface="Arial"/>
            </a:endParaRPr>
          </a:p>
        </p:txBody>
      </p:sp>
      <p:sp>
        <p:nvSpPr>
          <p:cNvPr id="228" name="Google Shape;228;p14"/>
          <p:cNvSpPr txBox="1"/>
          <p:nvPr/>
        </p:nvSpPr>
        <p:spPr>
          <a:xfrm>
            <a:off x="7467600" y="3308985"/>
            <a:ext cx="2540000" cy="42989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chemeClr val="lt1"/>
              </a:buClr>
              <a:buSzPts val="1800"/>
              <a:buFont typeface="Arial"/>
              <a:buNone/>
            </a:pPr>
            <a:r>
              <a:rPr b="1" i="0" lang="en-US" sz="2000" u="none" cap="none" strike="noStrike">
                <a:solidFill>
                  <a:srgbClr val="002060"/>
                </a:solidFill>
                <a:latin typeface="Bell MT"/>
                <a:ea typeface="Bell MT"/>
                <a:cs typeface="Bell MT"/>
                <a:sym typeface="Bell MT"/>
              </a:rPr>
              <a:t>Example</a:t>
            </a:r>
            <a:r>
              <a:rPr b="0" i="0" lang="en-US" sz="1600" u="none" cap="none" strike="noStrike">
                <a:solidFill>
                  <a:srgbClr val="002060"/>
                </a:solidFill>
                <a:latin typeface="Comic Sans MS"/>
                <a:ea typeface="Comic Sans MS"/>
                <a:cs typeface="Comic Sans MS"/>
                <a:sym typeface="Comic Sans MS"/>
              </a:rPr>
              <a:t>:</a:t>
            </a:r>
            <a:endParaRPr b="1" i="0" sz="1600" u="none" cap="none" strike="noStrike">
              <a:solidFill>
                <a:srgbClr val="002060"/>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000"/>
                                        <p:tgtEl>
                                          <p:spTgt spid="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par>
                                <p:cTn fill="hold" nodeType="with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500"/>
                                        <p:tgtEl>
                                          <p:spTgt spid="223"/>
                                        </p:tgtEl>
                                      </p:cBhvr>
                                    </p:animEffect>
                                  </p:childTnLst>
                                </p:cTn>
                              </p:par>
                              <p:par>
                                <p:cTn fill="hold" nodeType="with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par>
                                <p:cTn fill="hold" nodeType="with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500"/>
                                        <p:tgtEl>
                                          <p:spTgt spid="226"/>
                                        </p:tgtEl>
                                      </p:cBhvr>
                                    </p:animEffect>
                                  </p:childTnLst>
                                </p:cTn>
                              </p:par>
                              <p:par>
                                <p:cTn fill="hold" nodeType="with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Aitrich-Logo-Transparent-BG-2048x671" id="233" name="Google Shape;233;p15"/>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234" name="Google Shape;234;p15"/>
          <p:cNvSpPr txBox="1"/>
          <p:nvPr/>
        </p:nvSpPr>
        <p:spPr>
          <a:xfrm>
            <a:off x="797560" y="429260"/>
            <a:ext cx="5140960" cy="583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2060"/>
                </a:solidFill>
                <a:latin typeface="Bell MT"/>
                <a:ea typeface="Bell MT"/>
                <a:cs typeface="Bell MT"/>
                <a:sym typeface="Bell MT"/>
              </a:rPr>
              <a:t>3. UNIQUE Constraint:</a:t>
            </a:r>
            <a:endParaRPr b="1" i="0" sz="3200" u="none" cap="none" strike="noStrike">
              <a:solidFill>
                <a:srgbClr val="002060"/>
              </a:solidFill>
              <a:latin typeface="Bell MT"/>
              <a:ea typeface="Bell MT"/>
              <a:cs typeface="Bell MT"/>
              <a:sym typeface="Bell MT"/>
            </a:endParaRPr>
          </a:p>
        </p:txBody>
      </p:sp>
      <p:pic>
        <p:nvPicPr>
          <p:cNvPr descr="computer" id="235" name="Google Shape;235;p15"/>
          <p:cNvPicPr preferRelativeResize="0"/>
          <p:nvPr>
            <p:ph idx="1" type="body"/>
          </p:nvPr>
        </p:nvPicPr>
        <p:blipFill rotWithShape="1">
          <a:blip r:embed="rId4">
            <a:alphaModFix/>
          </a:blip>
          <a:srcRect b="0" l="0" r="0" t="0"/>
          <a:stretch/>
        </p:blipFill>
        <p:spPr>
          <a:xfrm>
            <a:off x="-72390" y="3499485"/>
            <a:ext cx="5824855" cy="2258060"/>
          </a:xfrm>
          <a:prstGeom prst="rect">
            <a:avLst/>
          </a:prstGeom>
          <a:noFill/>
          <a:ln>
            <a:noFill/>
          </a:ln>
        </p:spPr>
      </p:pic>
      <p:sp>
        <p:nvSpPr>
          <p:cNvPr id="236" name="Google Shape;236;p15"/>
          <p:cNvSpPr txBox="1"/>
          <p:nvPr/>
        </p:nvSpPr>
        <p:spPr>
          <a:xfrm>
            <a:off x="1203325" y="4069715"/>
            <a:ext cx="3273425"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CREATE TABLE table_name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column_name data_type UNIQUE,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p:txBody>
      </p:sp>
      <p:pic>
        <p:nvPicPr>
          <p:cNvPr descr="computer" id="237" name="Google Shape;237;p15"/>
          <p:cNvPicPr preferRelativeResize="0"/>
          <p:nvPr/>
        </p:nvPicPr>
        <p:blipFill rotWithShape="1">
          <a:blip r:embed="rId4">
            <a:alphaModFix/>
          </a:blip>
          <a:srcRect b="0" l="0" r="0" t="0"/>
          <a:stretch/>
        </p:blipFill>
        <p:spPr>
          <a:xfrm>
            <a:off x="6149975" y="3499485"/>
            <a:ext cx="5824855" cy="2515870"/>
          </a:xfrm>
          <a:prstGeom prst="rect">
            <a:avLst/>
          </a:prstGeom>
          <a:noFill/>
          <a:ln>
            <a:noFill/>
          </a:ln>
        </p:spPr>
      </p:pic>
      <p:sp>
        <p:nvSpPr>
          <p:cNvPr id="238" name="Google Shape;238;p15"/>
          <p:cNvSpPr txBox="1"/>
          <p:nvPr/>
        </p:nvSpPr>
        <p:spPr>
          <a:xfrm>
            <a:off x="7425690" y="4060825"/>
            <a:ext cx="3273425" cy="10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CREATE TABLE </a:t>
            </a:r>
            <a:r>
              <a:rPr b="0" i="0" lang="en-US" sz="1400" u="none" cap="none" strike="noStrike">
                <a:solidFill>
                  <a:srgbClr val="000000"/>
                </a:solidFill>
                <a:latin typeface="Arial"/>
                <a:ea typeface="Arial"/>
                <a:cs typeface="Arial"/>
                <a:sym typeface="Arial"/>
              </a:rPr>
              <a:t>Customers</a:t>
            </a:r>
            <a:r>
              <a:rPr b="0" i="0" lang="en-US" sz="12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id INT,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email VARCHAR(50) UNIQUE,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p:txBody>
      </p:sp>
      <p:sp>
        <p:nvSpPr>
          <p:cNvPr id="239" name="Google Shape;239;p15"/>
          <p:cNvSpPr txBox="1"/>
          <p:nvPr/>
        </p:nvSpPr>
        <p:spPr>
          <a:xfrm>
            <a:off x="957580" y="3291840"/>
            <a:ext cx="86614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Bell MT"/>
                <a:ea typeface="Bell MT"/>
                <a:cs typeface="Bell MT"/>
                <a:sym typeface="Bell MT"/>
              </a:rPr>
              <a:t>Syntax</a:t>
            </a:r>
            <a:endParaRPr b="0" i="0" sz="1800" u="none" cap="none" strike="noStrike">
              <a:solidFill>
                <a:schemeClr val="dk1"/>
              </a:solidFill>
              <a:latin typeface="Calibri"/>
              <a:ea typeface="Calibri"/>
              <a:cs typeface="Calibri"/>
              <a:sym typeface="Calibri"/>
            </a:endParaRPr>
          </a:p>
        </p:txBody>
      </p:sp>
      <p:sp>
        <p:nvSpPr>
          <p:cNvPr id="240" name="Google Shape;240;p15"/>
          <p:cNvSpPr/>
          <p:nvPr/>
        </p:nvSpPr>
        <p:spPr>
          <a:xfrm>
            <a:off x="797560" y="1504315"/>
            <a:ext cx="6369685" cy="1225550"/>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The UNIQUE constraint ensures that the values in a column or a combination of columns are unique, meaning no duplicate values are allowed.</a:t>
            </a:r>
            <a:endParaRPr b="0" i="0" sz="1600" u="none" cap="none" strike="noStrike">
              <a:solidFill>
                <a:schemeClr val="lt1"/>
              </a:solidFill>
              <a:latin typeface="Comic Sans MS"/>
              <a:ea typeface="Comic Sans MS"/>
              <a:cs typeface="Comic Sans MS"/>
              <a:sym typeface="Comic Sans MS"/>
            </a:endParaRPr>
          </a:p>
        </p:txBody>
      </p:sp>
      <p:sp>
        <p:nvSpPr>
          <p:cNvPr id="241" name="Google Shape;241;p15"/>
          <p:cNvSpPr txBox="1"/>
          <p:nvPr/>
        </p:nvSpPr>
        <p:spPr>
          <a:xfrm>
            <a:off x="7179945" y="3258820"/>
            <a:ext cx="2540000" cy="42989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chemeClr val="lt1"/>
              </a:buClr>
              <a:buSzPts val="1800"/>
              <a:buFont typeface="Arial"/>
              <a:buNone/>
            </a:pPr>
            <a:r>
              <a:rPr b="1" i="0" lang="en-US" sz="2000" u="none" cap="none" strike="noStrike">
                <a:solidFill>
                  <a:srgbClr val="002060"/>
                </a:solidFill>
                <a:latin typeface="Bell MT"/>
                <a:ea typeface="Bell MT"/>
                <a:cs typeface="Bell MT"/>
                <a:sym typeface="Bell MT"/>
              </a:rPr>
              <a:t>Example</a:t>
            </a:r>
            <a:r>
              <a:rPr b="0" i="0" lang="en-US" sz="1600" u="none" cap="none" strike="noStrike">
                <a:solidFill>
                  <a:srgbClr val="002060"/>
                </a:solidFill>
                <a:latin typeface="Comic Sans MS"/>
                <a:ea typeface="Comic Sans MS"/>
                <a:cs typeface="Comic Sans MS"/>
                <a:sym typeface="Comic Sans MS"/>
              </a:rPr>
              <a:t>:</a:t>
            </a:r>
            <a:endParaRPr b="1" i="0" sz="1600" u="none" cap="none" strike="noStrike">
              <a:solidFill>
                <a:srgbClr val="002060"/>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descr="Aitrich-Logo-Transparent-BG-2048x671" id="246" name="Google Shape;246;p16"/>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247" name="Google Shape;247;p16"/>
          <p:cNvSpPr txBox="1"/>
          <p:nvPr/>
        </p:nvSpPr>
        <p:spPr>
          <a:xfrm>
            <a:off x="797560" y="429260"/>
            <a:ext cx="5708015" cy="583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2060"/>
                </a:solidFill>
                <a:latin typeface="Bell MT"/>
                <a:ea typeface="Bell MT"/>
                <a:cs typeface="Bell MT"/>
                <a:sym typeface="Bell MT"/>
              </a:rPr>
              <a:t>4. FOREIGN KEY Constraint</a:t>
            </a:r>
            <a:endParaRPr b="1" i="0" sz="3200" u="none" cap="none" strike="noStrike">
              <a:solidFill>
                <a:srgbClr val="002060"/>
              </a:solidFill>
              <a:latin typeface="Bell MT"/>
              <a:ea typeface="Bell MT"/>
              <a:cs typeface="Bell MT"/>
              <a:sym typeface="Bell MT"/>
            </a:endParaRPr>
          </a:p>
        </p:txBody>
      </p:sp>
      <p:pic>
        <p:nvPicPr>
          <p:cNvPr descr="computer" id="248" name="Google Shape;248;p16"/>
          <p:cNvPicPr preferRelativeResize="0"/>
          <p:nvPr>
            <p:ph idx="1" type="body"/>
          </p:nvPr>
        </p:nvPicPr>
        <p:blipFill rotWithShape="1">
          <a:blip r:embed="rId4">
            <a:alphaModFix/>
          </a:blip>
          <a:srcRect b="0" l="0" r="0" t="0"/>
          <a:stretch/>
        </p:blipFill>
        <p:spPr>
          <a:xfrm>
            <a:off x="172720" y="3754120"/>
            <a:ext cx="5824855" cy="2940050"/>
          </a:xfrm>
          <a:prstGeom prst="rect">
            <a:avLst/>
          </a:prstGeom>
          <a:noFill/>
          <a:ln>
            <a:noFill/>
          </a:ln>
        </p:spPr>
      </p:pic>
      <p:sp>
        <p:nvSpPr>
          <p:cNvPr id="249" name="Google Shape;249;p16"/>
          <p:cNvSpPr txBox="1"/>
          <p:nvPr/>
        </p:nvSpPr>
        <p:spPr>
          <a:xfrm>
            <a:off x="1448435" y="4241800"/>
            <a:ext cx="3273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CREATE TABLE table_name1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column_name data_type,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...column name data_type foreign key references referenced_table(referenced column)</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p:txBody>
      </p:sp>
      <p:pic>
        <p:nvPicPr>
          <p:cNvPr descr="computer" id="250" name="Google Shape;250;p16"/>
          <p:cNvPicPr preferRelativeResize="0"/>
          <p:nvPr/>
        </p:nvPicPr>
        <p:blipFill rotWithShape="1">
          <a:blip r:embed="rId4">
            <a:alphaModFix/>
          </a:blip>
          <a:srcRect b="0" l="0" r="0" t="0"/>
          <a:stretch/>
        </p:blipFill>
        <p:spPr>
          <a:xfrm>
            <a:off x="6367145" y="3245485"/>
            <a:ext cx="5824855" cy="3772003"/>
          </a:xfrm>
          <a:prstGeom prst="rect">
            <a:avLst/>
          </a:prstGeom>
          <a:noFill/>
          <a:ln>
            <a:noFill/>
          </a:ln>
        </p:spPr>
      </p:pic>
      <p:sp>
        <p:nvSpPr>
          <p:cNvPr id="251" name="Google Shape;251;p16"/>
          <p:cNvSpPr txBox="1"/>
          <p:nvPr/>
        </p:nvSpPr>
        <p:spPr>
          <a:xfrm>
            <a:off x="7642860" y="3954780"/>
            <a:ext cx="3531900" cy="21236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CREATE TABLE Bookings (</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BookingID INT PRIMARY KEY,</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CustomerID INT,</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TourID INT,</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FOREIGN KEY (CustomerID) REFERENCES Customers(CustomerID),</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FOREIGN KEY (TourID) REFERENCES Tours(TourID)</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p:txBody>
      </p:sp>
      <p:sp>
        <p:nvSpPr>
          <p:cNvPr id="252" name="Google Shape;252;p16"/>
          <p:cNvSpPr txBox="1"/>
          <p:nvPr/>
        </p:nvSpPr>
        <p:spPr>
          <a:xfrm>
            <a:off x="1202690" y="3546475"/>
            <a:ext cx="86614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Bell MT"/>
                <a:ea typeface="Bell MT"/>
                <a:cs typeface="Bell MT"/>
                <a:sym typeface="Bell MT"/>
              </a:rPr>
              <a:t>Syntax</a:t>
            </a:r>
            <a:endParaRPr b="0" i="0" sz="1800" u="none" cap="none" strike="noStrike">
              <a:solidFill>
                <a:schemeClr val="dk1"/>
              </a:solidFill>
              <a:latin typeface="Calibri"/>
              <a:ea typeface="Calibri"/>
              <a:cs typeface="Calibri"/>
              <a:sym typeface="Calibri"/>
            </a:endParaRPr>
          </a:p>
        </p:txBody>
      </p:sp>
      <p:sp>
        <p:nvSpPr>
          <p:cNvPr id="253" name="Google Shape;253;p16"/>
          <p:cNvSpPr/>
          <p:nvPr/>
        </p:nvSpPr>
        <p:spPr>
          <a:xfrm>
            <a:off x="797560" y="1504315"/>
            <a:ext cx="6369685" cy="1831340"/>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The FOREIGN KEY constraint establishes a relationship between two tables by referencing the primary key of one table in another table. It ensures referential integrity, meaning the values in the foreign key column must match the values in the referenced primary key column.</a:t>
            </a:r>
            <a:endParaRPr b="0" i="0" sz="1600" u="none" cap="none" strike="noStrike">
              <a:solidFill>
                <a:schemeClr val="lt1"/>
              </a:solidFill>
              <a:latin typeface="Comic Sans MS"/>
              <a:ea typeface="Comic Sans MS"/>
              <a:cs typeface="Comic Sans MS"/>
              <a:sym typeface="Comic Sans MS"/>
            </a:endParaRPr>
          </a:p>
        </p:txBody>
      </p:sp>
      <p:sp>
        <p:nvSpPr>
          <p:cNvPr id="254" name="Google Shape;254;p16"/>
          <p:cNvSpPr txBox="1"/>
          <p:nvPr/>
        </p:nvSpPr>
        <p:spPr>
          <a:xfrm>
            <a:off x="7397115" y="3245485"/>
            <a:ext cx="2540000" cy="42989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chemeClr val="lt1"/>
              </a:buClr>
              <a:buSzPts val="1800"/>
              <a:buFont typeface="Arial"/>
              <a:buNone/>
            </a:pPr>
            <a:r>
              <a:rPr b="1" i="0" lang="en-US" sz="2000" u="none" cap="none" strike="noStrike">
                <a:solidFill>
                  <a:srgbClr val="002060"/>
                </a:solidFill>
                <a:latin typeface="Bell MT"/>
                <a:ea typeface="Bell MT"/>
                <a:cs typeface="Bell MT"/>
                <a:sym typeface="Bell MT"/>
              </a:rPr>
              <a:t>Example</a:t>
            </a:r>
            <a:r>
              <a:rPr b="0" i="0" lang="en-US" sz="1600" u="none" cap="none" strike="noStrike">
                <a:solidFill>
                  <a:srgbClr val="002060"/>
                </a:solidFill>
                <a:latin typeface="Comic Sans MS"/>
                <a:ea typeface="Comic Sans MS"/>
                <a:cs typeface="Comic Sans MS"/>
                <a:sym typeface="Comic Sans MS"/>
              </a:rPr>
              <a:t>:</a:t>
            </a:r>
            <a:endParaRPr b="1" i="0" sz="1600" u="none" cap="none" strike="noStrike">
              <a:solidFill>
                <a:srgbClr val="002060"/>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0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par>
                                <p:cTn fill="hold" nodeType="with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par>
                                <p:cTn fill="hold" nodeType="with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500"/>
                                        <p:tgtEl>
                                          <p:spTgt spid="251"/>
                                        </p:tgtEl>
                                      </p:cBhvr>
                                    </p:animEffect>
                                  </p:childTnLst>
                                </p:cTn>
                              </p:par>
                              <p:par>
                                <p:cTn fill="hold" nodeType="with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par>
                                <p:cTn fill="hold" nodeType="with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descr="Aitrich-Logo-Transparent-BG-2048x671" id="259" name="Google Shape;259;p17"/>
          <p:cNvPicPr preferRelativeResize="0"/>
          <p:nvPr/>
        </p:nvPicPr>
        <p:blipFill rotWithShape="1">
          <a:blip r:embed="rId3">
            <a:alphaModFix/>
          </a:blip>
          <a:srcRect b="0" l="0" r="0" t="0"/>
          <a:stretch/>
        </p:blipFill>
        <p:spPr>
          <a:xfrm>
            <a:off x="365125" y="6527165"/>
            <a:ext cx="1166495" cy="167005"/>
          </a:xfrm>
          <a:prstGeom prst="rect">
            <a:avLst/>
          </a:prstGeom>
          <a:noFill/>
          <a:ln>
            <a:noFill/>
          </a:ln>
        </p:spPr>
      </p:pic>
      <p:sp>
        <p:nvSpPr>
          <p:cNvPr id="260" name="Google Shape;260;p17"/>
          <p:cNvSpPr txBox="1"/>
          <p:nvPr/>
        </p:nvSpPr>
        <p:spPr>
          <a:xfrm>
            <a:off x="797560" y="429260"/>
            <a:ext cx="5140960" cy="5835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2060"/>
                </a:solidFill>
                <a:latin typeface="Bell MT"/>
                <a:ea typeface="Bell MT"/>
                <a:cs typeface="Bell MT"/>
                <a:sym typeface="Bell MT"/>
              </a:rPr>
              <a:t>5. CHECK Constraint</a:t>
            </a:r>
            <a:endParaRPr b="1" i="0" sz="3200" u="none" cap="none" strike="noStrike">
              <a:solidFill>
                <a:srgbClr val="002060"/>
              </a:solidFill>
              <a:latin typeface="Bell MT"/>
              <a:ea typeface="Bell MT"/>
              <a:cs typeface="Bell MT"/>
              <a:sym typeface="Bell MT"/>
            </a:endParaRPr>
          </a:p>
        </p:txBody>
      </p:sp>
      <p:pic>
        <p:nvPicPr>
          <p:cNvPr descr="computer" id="261" name="Google Shape;261;p17"/>
          <p:cNvPicPr preferRelativeResize="0"/>
          <p:nvPr>
            <p:ph idx="1" type="body"/>
          </p:nvPr>
        </p:nvPicPr>
        <p:blipFill rotWithShape="1">
          <a:blip r:embed="rId4">
            <a:alphaModFix/>
          </a:blip>
          <a:srcRect b="0" l="0" r="0" t="0"/>
          <a:stretch/>
        </p:blipFill>
        <p:spPr>
          <a:xfrm>
            <a:off x="113665" y="3498215"/>
            <a:ext cx="5824855" cy="2698750"/>
          </a:xfrm>
          <a:prstGeom prst="rect">
            <a:avLst/>
          </a:prstGeom>
          <a:noFill/>
          <a:ln>
            <a:noFill/>
          </a:ln>
        </p:spPr>
      </p:pic>
      <p:sp>
        <p:nvSpPr>
          <p:cNvPr id="262" name="Google Shape;262;p17"/>
          <p:cNvSpPr txBox="1"/>
          <p:nvPr/>
        </p:nvSpPr>
        <p:spPr>
          <a:xfrm>
            <a:off x="1389380" y="3970655"/>
            <a:ext cx="3273425" cy="1383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CREATE TABLE table_name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column_name data_type,</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CONSTRAINT check_constraint_name CHECK (condition)</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p:txBody>
      </p:sp>
      <p:sp>
        <p:nvSpPr>
          <p:cNvPr id="263" name="Google Shape;263;p17"/>
          <p:cNvSpPr/>
          <p:nvPr/>
        </p:nvSpPr>
        <p:spPr>
          <a:xfrm>
            <a:off x="797560" y="1388415"/>
            <a:ext cx="6369600" cy="1225500"/>
          </a:xfrm>
          <a:prstGeom prst="roundRect">
            <a:avLst>
              <a:gd fmla="val 16667" name="adj"/>
            </a:avLst>
          </a:prstGeom>
          <a:gradFill>
            <a:gsLst>
              <a:gs pos="0">
                <a:srgbClr val="012D86"/>
              </a:gs>
              <a:gs pos="100000">
                <a:srgbClr val="0E2557"/>
              </a:gs>
            </a:gsLst>
            <a:lin ang="0" scaled="0"/>
          </a:gra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chemeClr val="lt1"/>
              </a:buClr>
              <a:buSzPts val="1800"/>
              <a:buFont typeface="Arial"/>
              <a:buNone/>
            </a:pPr>
            <a:r>
              <a:rPr b="0" i="0" lang="en-US" sz="1600" u="none" cap="none" strike="noStrike">
                <a:solidFill>
                  <a:schemeClr val="lt1"/>
                </a:solidFill>
                <a:latin typeface="Comic Sans MS"/>
                <a:ea typeface="Comic Sans MS"/>
                <a:cs typeface="Comic Sans MS"/>
                <a:sym typeface="Comic Sans MS"/>
              </a:rPr>
              <a:t>The CHECK constraint defines a condition that must be satisfied by the values in a column. It allows you to specify a logical expression to restrict the range of valid values.</a:t>
            </a:r>
            <a:endParaRPr b="0" i="0" sz="1600" u="none" cap="none" strike="noStrike">
              <a:solidFill>
                <a:schemeClr val="lt1"/>
              </a:solidFill>
              <a:latin typeface="Comic Sans MS"/>
              <a:ea typeface="Comic Sans MS"/>
              <a:cs typeface="Comic Sans MS"/>
              <a:sym typeface="Comic Sans MS"/>
            </a:endParaRPr>
          </a:p>
        </p:txBody>
      </p:sp>
      <p:pic>
        <p:nvPicPr>
          <p:cNvPr descr="computer" id="264" name="Google Shape;264;p17"/>
          <p:cNvPicPr preferRelativeResize="0"/>
          <p:nvPr/>
        </p:nvPicPr>
        <p:blipFill rotWithShape="1">
          <a:blip r:embed="rId4">
            <a:alphaModFix/>
          </a:blip>
          <a:srcRect b="0" l="0" r="0" t="0"/>
          <a:stretch/>
        </p:blipFill>
        <p:spPr>
          <a:xfrm>
            <a:off x="6525550" y="2432550"/>
            <a:ext cx="5594051" cy="4755049"/>
          </a:xfrm>
          <a:prstGeom prst="rect">
            <a:avLst/>
          </a:prstGeom>
          <a:noFill/>
          <a:ln>
            <a:noFill/>
          </a:ln>
        </p:spPr>
      </p:pic>
      <p:sp>
        <p:nvSpPr>
          <p:cNvPr id="265" name="Google Shape;265;p17"/>
          <p:cNvSpPr txBox="1"/>
          <p:nvPr/>
        </p:nvSpPr>
        <p:spPr>
          <a:xfrm>
            <a:off x="8030299" y="3414350"/>
            <a:ext cx="28137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CREATE TABLE Bookings (</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BookingID INT PRIMARY KEY,</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CustomerID INT,</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TourID INT,</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BookingDate DATE,</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NumberOfSeats INT,</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CHECK (NumberOfSeats &gt; 0), CHECK (BookingDate &gt;= GETDATE);</a:t>
            </a:r>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66" name="Google Shape;266;p17"/>
          <p:cNvSpPr txBox="1"/>
          <p:nvPr/>
        </p:nvSpPr>
        <p:spPr>
          <a:xfrm>
            <a:off x="7303460" y="2184090"/>
            <a:ext cx="2540000" cy="429895"/>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chemeClr val="lt1"/>
              </a:buClr>
              <a:buSzPts val="1800"/>
              <a:buFont typeface="Arial"/>
              <a:buNone/>
            </a:pPr>
            <a:r>
              <a:rPr b="1" i="0" lang="en-US" sz="2000" u="none" cap="none" strike="noStrike">
                <a:solidFill>
                  <a:srgbClr val="002060"/>
                </a:solidFill>
                <a:latin typeface="Bell MT"/>
                <a:ea typeface="Bell MT"/>
                <a:cs typeface="Bell MT"/>
                <a:sym typeface="Bell MT"/>
              </a:rPr>
              <a:t>Example</a:t>
            </a:r>
            <a:r>
              <a:rPr b="0" i="0" lang="en-US" sz="1600" u="none" cap="none" strike="noStrike">
                <a:solidFill>
                  <a:srgbClr val="002060"/>
                </a:solidFill>
                <a:latin typeface="Comic Sans MS"/>
                <a:ea typeface="Comic Sans MS"/>
                <a:cs typeface="Comic Sans MS"/>
                <a:sym typeface="Comic Sans MS"/>
              </a:rPr>
              <a:t>:</a:t>
            </a:r>
            <a:endParaRPr b="1" i="0" sz="1600" u="none" cap="none" strike="noStrike">
              <a:solidFill>
                <a:srgbClr val="002060"/>
              </a:solidFill>
              <a:latin typeface="Comic Sans MS"/>
              <a:ea typeface="Comic Sans MS"/>
              <a:cs typeface="Comic Sans MS"/>
              <a:sym typeface="Comic Sans MS"/>
            </a:endParaRPr>
          </a:p>
        </p:txBody>
      </p:sp>
      <p:sp>
        <p:nvSpPr>
          <p:cNvPr id="267" name="Google Shape;267;p17"/>
          <p:cNvSpPr txBox="1"/>
          <p:nvPr/>
        </p:nvSpPr>
        <p:spPr>
          <a:xfrm>
            <a:off x="1132840" y="3288665"/>
            <a:ext cx="86614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Bell MT"/>
                <a:ea typeface="Bell MT"/>
                <a:cs typeface="Bell MT"/>
                <a:sym typeface="Bell MT"/>
              </a:rPr>
              <a:t>Syntax</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000"/>
                                        <p:tgtEl>
                                          <p:spTgt spid="2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500"/>
                                        <p:tgtEl>
                                          <p:spTgt spid="262"/>
                                        </p:tgtEl>
                                      </p:cBhvr>
                                    </p:animEffect>
                                  </p:childTnLst>
                                </p:cTn>
                              </p:par>
                              <p:par>
                                <p:cTn fill="hold" nodeType="with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par>
                                <p:cTn fill="hold" nodeType="with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par>
                                <p:cTn fill="hold" nodeType="with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par>
                                <p:cTn fill="hold" nodeType="with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descr="tnq" id="272" name="Google Shape;272;p18"/>
          <p:cNvPicPr preferRelativeResize="0"/>
          <p:nvPr>
            <p:ph idx="1" type="body"/>
          </p:nvPr>
        </p:nvPicPr>
        <p:blipFill rotWithShape="1">
          <a:blip r:embed="rId3">
            <a:alphaModFix/>
          </a:blip>
          <a:srcRect b="0" l="0" r="0" t="0"/>
          <a:stretch/>
        </p:blipFill>
        <p:spPr>
          <a:xfrm>
            <a:off x="2742565" y="1253490"/>
            <a:ext cx="6706235" cy="4351655"/>
          </a:xfrm>
          <a:prstGeom prst="rect">
            <a:avLst/>
          </a:prstGeom>
          <a:noFill/>
          <a:ln>
            <a:noFill/>
          </a:ln>
        </p:spPr>
      </p:pic>
      <p:pic>
        <p:nvPicPr>
          <p:cNvPr descr="Aitrich-Logo-Transparent-BG-2048x671" id="273" name="Google Shape;273;p18"/>
          <p:cNvPicPr preferRelativeResize="0"/>
          <p:nvPr/>
        </p:nvPicPr>
        <p:blipFill rotWithShape="1">
          <a:blip r:embed="rId4">
            <a:alphaModFix/>
          </a:blip>
          <a:srcRect b="0" l="0" r="0" t="0"/>
          <a:stretch/>
        </p:blipFill>
        <p:spPr>
          <a:xfrm>
            <a:off x="365125" y="6527165"/>
            <a:ext cx="1166495" cy="167005"/>
          </a:xfrm>
          <a:prstGeom prst="rect">
            <a:avLst/>
          </a:prstGeom>
          <a:noFill/>
          <a:ln>
            <a:noFill/>
          </a:ln>
        </p:spPr>
      </p:pic>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2025-06-02T09:32:55Z</dcterms:created>
  <dc:creator>Lenovo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18EB89C3C24F45E2A58E83028A774C93</vt:lpwstr>
  </property>
  <property fmtid="{D5CDD505-2E9C-101B-9397-08002B2CF9AE}" pid="3" name="KSOProductBuildVer">
    <vt:lpwstr>1033-12.2.0.21179</vt:lpwstr>
  </property>
</Properties>
</file>