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/>
  <p:notesSz cx="6858000" cy="9144000"/>
  <p:embeddedFontLst>
    <p:embeddedFont>
      <p:font typeface="Comic Sans MS" pitchFamily="66" charset="0"/>
      <p:regular r:id="rId46"/>
      <p:bold r:id="rId47"/>
      <p:italic r:id="rId48"/>
      <p:boldItalic r:id="rId49"/>
    </p:embeddedFont>
    <p:embeddedFont>
      <p:font typeface="Bell MT" pitchFamily="18" charset="0"/>
      <p:regular r:id="rId50"/>
      <p:bold r:id="rId51"/>
      <p:italic r:id="rId52"/>
    </p:embeddedFont>
    <p:embeddedFont>
      <p:font typeface="Calibri" pitchFamily="34" charset="0"/>
      <p:regular r:id="rId53"/>
      <p:bold r:id="rId54"/>
      <p:italic r:id="rId55"/>
      <p:boldItalic r:id="rId56"/>
    </p:embeddedFont>
    <p:embeddedFont>
      <p:font typeface="Quattrocento Sans" charset="0"/>
      <p:regular r:id="rId57"/>
      <p:bold r:id="rId58"/>
      <p:italic r:id="rId59"/>
      <p:boldItalic r:id="rId6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1" roundtripDataSignature="AMtx7mgcaBqXzT9abqk/wqvm/fPrd/Mk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-156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font" Target="fonts/font10.fntdata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font" Target="fonts/font8.fntdata"/><Relationship Id="rId58" Type="http://schemas.openxmlformats.org/officeDocument/2006/relationships/font" Target="fonts/font13.fntdata"/><Relationship Id="rId5" Type="http://schemas.openxmlformats.org/officeDocument/2006/relationships/slide" Target="slides/slide4.xml"/><Relationship Id="rId61" Type="http://customschemas.google.com/relationships/presentationmetadata" Target="meta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56" Type="http://schemas.openxmlformats.org/officeDocument/2006/relationships/font" Target="fonts/font11.fntdata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59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9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Relationship Id="rId57" Type="http://schemas.openxmlformats.org/officeDocument/2006/relationships/font" Target="fonts/font1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7.fntdata"/><Relationship Id="rId60" Type="http://schemas.openxmlformats.org/officeDocument/2006/relationships/font" Target="fonts/font15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053637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8" name="Google Shape;308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4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4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4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5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5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2.png"/><Relationship Id="rId4" Type="http://schemas.openxmlformats.org/officeDocument/2006/relationships/image" Target="../media/image8.jp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2.png"/><Relationship Id="rId4" Type="http://schemas.openxmlformats.org/officeDocument/2006/relationships/image" Target="../media/image8.jpg"/><Relationship Id="rId9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672465" y="1396365"/>
            <a:ext cx="602996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60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COLLECTIONS</a:t>
            </a:r>
            <a:endParaRPr b="1">
              <a:solidFill>
                <a:srgbClr val="012D86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89" name="Google Shape;89;p1" descr="b510_cjq1_2108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25995" y="638810"/>
            <a:ext cx="4255135" cy="5773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Overview</a:t>
            </a:r>
            <a:endParaRPr b="1">
              <a:solidFill>
                <a:srgbClr val="012D86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96" name="Google Shape;96;p2" descr="2400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070610" y="1624965"/>
            <a:ext cx="5102225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2" descr="240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0610" y="2552065"/>
            <a:ext cx="5100955" cy="1022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" descr="240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245" y="3413125"/>
            <a:ext cx="5100955" cy="895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" descr="240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245" y="4274185"/>
            <a:ext cx="5101590" cy="90868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 txBox="1"/>
          <p:nvPr/>
        </p:nvSpPr>
        <p:spPr>
          <a:xfrm>
            <a:off x="2967990" y="1993900"/>
            <a:ext cx="202438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Introduction</a:t>
            </a:r>
            <a:endParaRPr sz="17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2609215" y="2910840"/>
            <a:ext cx="2024380" cy="614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What is collection?</a:t>
            </a:r>
            <a:endParaRPr sz="17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1718310" y="3723005"/>
            <a:ext cx="414401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Generic And Non-Generic Collections</a:t>
            </a:r>
            <a:endParaRPr sz="17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2254885" y="4534535"/>
            <a:ext cx="2886075" cy="614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Create a Custom Collection</a:t>
            </a:r>
            <a:endParaRPr sz="17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04" name="Google Shape;104;p2" descr="NU_Flat_6_14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6863080" y="801370"/>
            <a:ext cx="4490720" cy="4926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" descr="Aitrich-Logo-Transparent-BG-2048x67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000"/>
              <a:buFont typeface="Bell MT"/>
              <a:buNone/>
            </a:pPr>
            <a:r>
              <a:rPr lang="en-US" sz="4000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INTRODUCTION</a:t>
            </a:r>
            <a:endParaRPr sz="4000" b="1">
              <a:solidFill>
                <a:srgbClr val="012D86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11" name="Google Shape;111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solidFill>
                <a:srgbClr val="012D86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solidFill>
                <a:srgbClr val="012D86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solidFill>
                <a:srgbClr val="012D86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solidFill>
                <a:srgbClr val="012D86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solidFill>
                <a:srgbClr val="012D86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solidFill>
                <a:srgbClr val="012D86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solidFill>
                <a:srgbClr val="012D86"/>
              </a:solidFill>
            </a:endParaRPr>
          </a:p>
        </p:txBody>
      </p:sp>
      <p:pic>
        <p:nvPicPr>
          <p:cNvPr id="112" name="Google Shape;112;p3" descr="3808949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794500" y="2284730"/>
            <a:ext cx="4559300" cy="345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3"/>
          <p:cNvSpPr/>
          <p:nvPr/>
        </p:nvSpPr>
        <p:spPr>
          <a:xfrm>
            <a:off x="709930" y="1667510"/>
            <a:ext cx="5309235" cy="90741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A collection sometimes called a container  is simply an object that groups multiple elements into a single unit.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710565" y="2687955"/>
            <a:ext cx="5309235" cy="63690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A collection is a kind of data structure.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709930" y="3437890"/>
            <a:ext cx="5309235" cy="77660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A data structure is a way of storing data in a computer so that it can be used efficiently.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709930" y="4327525"/>
            <a:ext cx="5309235" cy="77660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Collections can improve code readability and self documentation, as well as enhance maintainability.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710565" y="5217160"/>
            <a:ext cx="5309235" cy="77660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C# Collection classes are defined as part of the System.Collections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18" name="Google Shape;118;p3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>
            <a:spLocks noGrp="1"/>
          </p:cNvSpPr>
          <p:nvPr>
            <p:ph type="title"/>
          </p:nvPr>
        </p:nvSpPr>
        <p:spPr>
          <a:xfrm>
            <a:off x="490220" y="365125"/>
            <a:ext cx="8236585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3600"/>
              <a:buFont typeface="Bell MT"/>
              <a:buNone/>
            </a:pPr>
            <a:r>
              <a:rPr lang="en-US" sz="3600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TYPES OF COLLECTIONS IN .NET</a:t>
            </a:r>
            <a:endParaRPr sz="3600" b="1">
              <a:solidFill>
                <a:srgbClr val="012D86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124" name="Google Shape;124;p4"/>
          <p:cNvGrpSpPr/>
          <p:nvPr/>
        </p:nvGrpSpPr>
        <p:grpSpPr>
          <a:xfrm>
            <a:off x="490220" y="1849438"/>
            <a:ext cx="9669780" cy="4233545"/>
            <a:chOff x="0" y="54928"/>
            <a:chExt cx="9669780" cy="4233545"/>
          </a:xfrm>
        </p:grpSpPr>
        <p:sp>
          <p:nvSpPr>
            <p:cNvPr id="125" name="Google Shape;125;p4"/>
            <p:cNvSpPr/>
            <p:nvPr/>
          </p:nvSpPr>
          <p:spPr>
            <a:xfrm>
              <a:off x="0" y="54928"/>
              <a:ext cx="9669780" cy="61087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5F82CA"/>
                </a:gs>
                <a:gs pos="50000">
                  <a:srgbClr val="3C70CA"/>
                </a:gs>
                <a:gs pos="100000">
                  <a:srgbClr val="2E60B9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4"/>
            <p:cNvSpPr txBox="1"/>
            <p:nvPr/>
          </p:nvSpPr>
          <p:spPr>
            <a:xfrm>
              <a:off x="0" y="54928"/>
              <a:ext cx="9669780" cy="6108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Non  Generic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0" y="665798"/>
              <a:ext cx="9669780" cy="1642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4"/>
            <p:cNvSpPr txBox="1"/>
            <p:nvPr/>
          </p:nvSpPr>
          <p:spPr>
            <a:xfrm>
              <a:off x="0" y="665798"/>
              <a:ext cx="9669780" cy="1642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07000" tIns="24125" rIns="135125" bIns="24125" anchor="t" anchorCtr="0">
              <a:noAutofit/>
            </a:bodyPr>
            <a:lstStyle/>
            <a:p>
              <a:pPr marL="114300" marR="0" lvl="1" indent="-1143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060"/>
                </a:buClr>
                <a:buSzPts val="1400"/>
                <a:buFont typeface="Comic Sans MS"/>
                <a:buChar char="•"/>
              </a:pPr>
              <a:r>
                <a:rPr lang="en-US" sz="1400" b="0" i="0" u="none" strike="noStrike" cap="none">
                  <a:solidFill>
                    <a:srgbClr val="00206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ArrayList</a:t>
              </a:r>
              <a:endParaRPr sz="1400" b="0" i="0" u="none" strike="noStrike" cap="none">
                <a:solidFill>
                  <a:srgbClr val="00206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marL="114300" marR="0" lvl="1" indent="-114300" algn="l" rtl="0">
                <a:lnSpc>
                  <a:spcPct val="100000"/>
                </a:lnSpc>
                <a:spcBef>
                  <a:spcPts val="280"/>
                </a:spcBef>
                <a:spcAft>
                  <a:spcPts val="0"/>
                </a:spcAft>
                <a:buClr>
                  <a:srgbClr val="002060"/>
                </a:buClr>
                <a:buSzPts val="1400"/>
                <a:buFont typeface="Comic Sans MS"/>
                <a:buChar char="•"/>
              </a:pPr>
              <a:r>
                <a:rPr lang="en-US" sz="1400" b="0" i="0" u="none" strike="noStrike" cap="none">
                  <a:solidFill>
                    <a:srgbClr val="00206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Hashtable</a:t>
              </a:r>
              <a:endParaRPr sz="1400" b="0" i="0" u="none" strike="noStrike" cap="none">
                <a:solidFill>
                  <a:srgbClr val="00206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marL="114300" marR="0" lvl="1" indent="-114300" algn="l" rtl="0">
                <a:lnSpc>
                  <a:spcPct val="100000"/>
                </a:lnSpc>
                <a:spcBef>
                  <a:spcPts val="280"/>
                </a:spcBef>
                <a:spcAft>
                  <a:spcPts val="0"/>
                </a:spcAft>
                <a:buClr>
                  <a:srgbClr val="002060"/>
                </a:buClr>
                <a:buSzPts val="1400"/>
                <a:buFont typeface="Comic Sans MS"/>
                <a:buChar char="•"/>
              </a:pPr>
              <a:r>
                <a:rPr lang="en-US" sz="1400" b="0" i="0" u="none" strike="noStrike" cap="none">
                  <a:solidFill>
                    <a:srgbClr val="00206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SortedList</a:t>
              </a:r>
              <a:endParaRPr sz="1400" b="0" i="0" u="none" strike="noStrike" cap="none">
                <a:solidFill>
                  <a:srgbClr val="00206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marL="114300" marR="0" lvl="1" indent="-114300" algn="l" rtl="0">
                <a:lnSpc>
                  <a:spcPct val="100000"/>
                </a:lnSpc>
                <a:spcBef>
                  <a:spcPts val="280"/>
                </a:spcBef>
                <a:spcAft>
                  <a:spcPts val="0"/>
                </a:spcAft>
                <a:buClr>
                  <a:srgbClr val="002060"/>
                </a:buClr>
                <a:buSzPts val="1400"/>
                <a:buFont typeface="Comic Sans MS"/>
                <a:buChar char="•"/>
              </a:pPr>
              <a:r>
                <a:rPr lang="en-US" sz="1400" b="0" i="0" u="none" strike="noStrike" cap="none">
                  <a:solidFill>
                    <a:srgbClr val="00206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Queue</a:t>
              </a:r>
              <a:endParaRPr sz="1400" b="0" i="0" u="none" strike="noStrike" cap="none">
                <a:solidFill>
                  <a:srgbClr val="00206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marL="114300" marR="0" lvl="1" indent="-114300" algn="l" rtl="0">
                <a:lnSpc>
                  <a:spcPct val="100000"/>
                </a:lnSpc>
                <a:spcBef>
                  <a:spcPts val="280"/>
                </a:spcBef>
                <a:spcAft>
                  <a:spcPts val="0"/>
                </a:spcAft>
                <a:buClr>
                  <a:srgbClr val="002060"/>
                </a:buClr>
                <a:buSzPts val="1400"/>
                <a:buFont typeface="Comic Sans MS"/>
                <a:buChar char="•"/>
              </a:pPr>
              <a:r>
                <a:rPr lang="en-US" sz="1400" b="0" i="0" u="none" strike="noStrike" cap="none">
                  <a:solidFill>
                    <a:srgbClr val="00206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Stack</a:t>
              </a:r>
              <a:endParaRPr sz="14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marL="114300" marR="0" lvl="1" indent="-25400" algn="l" rtl="0">
                <a:lnSpc>
                  <a:spcPct val="100000"/>
                </a:lnSpc>
                <a:spcBef>
                  <a:spcPts val="28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0" y="2307908"/>
              <a:ext cx="9669780" cy="61087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5F82CA"/>
                </a:gs>
                <a:gs pos="50000">
                  <a:srgbClr val="3C70CA"/>
                </a:gs>
                <a:gs pos="100000">
                  <a:srgbClr val="2E60B9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4"/>
            <p:cNvSpPr txBox="1"/>
            <p:nvPr/>
          </p:nvSpPr>
          <p:spPr>
            <a:xfrm>
              <a:off x="0" y="2307908"/>
              <a:ext cx="9669780" cy="6108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Generics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0" y="2918778"/>
              <a:ext cx="9669780" cy="13696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4"/>
            <p:cNvSpPr txBox="1"/>
            <p:nvPr/>
          </p:nvSpPr>
          <p:spPr>
            <a:xfrm>
              <a:off x="0" y="2918778"/>
              <a:ext cx="9669780" cy="13696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07000" tIns="24125" rIns="135125" bIns="24125" anchor="t" anchorCtr="0">
              <a:noAutofit/>
            </a:bodyPr>
            <a:lstStyle/>
            <a:p>
              <a:pPr marL="114300" marR="0" lvl="1" indent="-1143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</a:t>
              </a:r>
              <a:r>
                <a:rPr lang="en-US" sz="1400" b="0" i="0" u="none" strike="noStrike" cap="none">
                  <a:solidFill>
                    <a:srgbClr val="00206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ist&lt;T&gt;</a:t>
              </a:r>
              <a:endParaRPr sz="1400" b="0" i="0" u="none" strike="noStrike" cap="none">
                <a:solidFill>
                  <a:srgbClr val="00206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marL="114300" marR="0" lvl="1" indent="-114300" algn="l" rtl="0">
                <a:lnSpc>
                  <a:spcPct val="100000"/>
                </a:lnSpc>
                <a:spcBef>
                  <a:spcPts val="28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lang="en-US" sz="1400" b="0" i="0" u="none" strike="noStrike" cap="none">
                  <a:solidFill>
                    <a:srgbClr val="00206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ictionary&lt;TKey,TValue&gt;</a:t>
              </a:r>
              <a:endParaRPr sz="1400" b="0" i="0" u="none" strike="noStrike" cap="none">
                <a:solidFill>
                  <a:srgbClr val="00206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marL="114300" marR="0" lvl="1" indent="-114300" algn="l" rtl="0">
                <a:lnSpc>
                  <a:spcPct val="100000"/>
                </a:lnSpc>
                <a:spcBef>
                  <a:spcPts val="28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So</a:t>
              </a:r>
              <a:r>
                <a:rPr lang="en-US" sz="1400" b="0" i="0" u="none" strike="noStrike" cap="none">
                  <a:solidFill>
                    <a:srgbClr val="00206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rtedList</a:t>
              </a:r>
              <a:r>
                <a:rPr lang="en-US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</a:t>
              </a:r>
              <a:r>
                <a:rPr lang="en-US" sz="1400" b="0" i="0" u="none" strike="noStrike" cap="none">
                  <a:solidFill>
                    <a:srgbClr val="00206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TKey,TValue&gt;</a:t>
              </a:r>
              <a:endParaRPr sz="1400" b="0" i="0" u="none" strike="noStrike" cap="none">
                <a:solidFill>
                  <a:srgbClr val="00206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marL="114300" marR="0" lvl="1" indent="-114300" algn="l" rtl="0">
                <a:lnSpc>
                  <a:spcPct val="100000"/>
                </a:lnSpc>
                <a:spcBef>
                  <a:spcPts val="28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r>
                <a:rPr lang="en-US" sz="1400" b="0" i="0" u="none" strike="noStrike" cap="none">
                  <a:solidFill>
                    <a:srgbClr val="00206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ueue</a:t>
              </a:r>
              <a:r>
                <a:rPr lang="en-US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</a:t>
              </a:r>
              <a:r>
                <a:rPr lang="en-US" sz="1400" b="0" i="0" u="none" strike="noStrike" cap="none">
                  <a:solidFill>
                    <a:srgbClr val="00206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T&gt;</a:t>
              </a:r>
              <a:endParaRPr sz="1400" b="0" i="0" u="none" strike="noStrike" cap="none">
                <a:solidFill>
                  <a:srgbClr val="00206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marL="114300" marR="0" lvl="1" indent="-114300" algn="l" rtl="0">
                <a:lnSpc>
                  <a:spcPct val="100000"/>
                </a:lnSpc>
                <a:spcBef>
                  <a:spcPts val="28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r>
                <a:rPr lang="en-US" sz="1400" b="0" i="0" u="none" strike="noStrike" cap="none">
                  <a:solidFill>
                    <a:srgbClr val="00206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tack&lt;T&gt;</a:t>
              </a:r>
              <a:endParaRPr sz="1400" b="0" i="0" u="none" strike="noStrike" cap="none">
                <a:solidFill>
                  <a:srgbClr val="00206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pic>
        <p:nvPicPr>
          <p:cNvPr id="133" name="Google Shape;133;p4" descr="Aitrich-Logo-Transparent-BG-2048x6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800"/>
              <a:buFont typeface="Bell MT"/>
              <a:buNone/>
            </a:pPr>
            <a:r>
              <a:rPr lang="en-US" sz="4800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NON-GENERIC COLLECTIONS</a:t>
            </a:r>
            <a:endParaRPr sz="4800" b="1">
              <a:solidFill>
                <a:srgbClr val="012D86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39" name="Google Shape;139;p5" descr="1988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218940" y="1976120"/>
            <a:ext cx="7973060" cy="4351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5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6" descr="191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46120" y="4316095"/>
            <a:ext cx="1522095" cy="73723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6"/>
          <p:cNvSpPr txBox="1">
            <a:spLocks noGrp="1"/>
          </p:cNvSpPr>
          <p:nvPr>
            <p:ph type="title"/>
          </p:nvPr>
        </p:nvSpPr>
        <p:spPr>
          <a:xfrm>
            <a:off x="5026025" y="5137150"/>
            <a:ext cx="213360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5"/>
              <a:buFont typeface="Comic Sans MS"/>
              <a:buNone/>
            </a:pPr>
            <a:r>
              <a:rPr lang="en-US" sz="1335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It represents a collection of key-value pairs in which keys are unique and the values can be of any type</a:t>
            </a:r>
            <a:endParaRPr sz="1335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1079500" y="1278255"/>
            <a:ext cx="8725535" cy="50419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Non-generic collections in C# are collections that can hold objects of any type. 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1079500" y="2131060"/>
            <a:ext cx="8725535" cy="48196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They are defined in the System.Collections namespace and include the following classes: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49" name="Google Shape;149;p6" descr="painted-surface-with-abstract-water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4110" y="3303270"/>
            <a:ext cx="1343025" cy="1010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6" descr="painted-surface-with-abstract-water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49875" y="3303270"/>
            <a:ext cx="1343025" cy="1010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6" descr="painted-surface-with-abstract-water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00315" y="3303270"/>
            <a:ext cx="1343025" cy="1010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6" descr="painted-surface-with-abstract-water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69475" y="3378200"/>
            <a:ext cx="1343025" cy="1010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6" descr="painted-surface-with-abstract-water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35020" y="3303905"/>
            <a:ext cx="1343025" cy="1010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6" descr="Group of people with solid fill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3667125" y="3497580"/>
            <a:ext cx="678815" cy="650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6" descr="Chevron arrows with solid fill"/>
          <p:cNvPicPr preferRelativeResize="0"/>
          <p:nvPr/>
        </p:nvPicPr>
        <p:blipFill rotWithShape="1">
          <a:blip r:embed="rId6">
            <a:alphaModFix/>
          </a:blip>
          <a:srcRect l="128" r="128"/>
          <a:stretch/>
        </p:blipFill>
        <p:spPr>
          <a:xfrm>
            <a:off x="5701466" y="3610718"/>
            <a:ext cx="62179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6" descr="Database with solid fill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20355" y="3572510"/>
            <a:ext cx="621665" cy="621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6" descr="Group with solid fil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139250" y="3572585"/>
            <a:ext cx="62179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6" descr="191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7915" y="4314190"/>
            <a:ext cx="1522095" cy="73723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6"/>
          <p:cNvSpPr txBox="1"/>
          <p:nvPr/>
        </p:nvSpPr>
        <p:spPr>
          <a:xfrm>
            <a:off x="1442720" y="4531360"/>
            <a:ext cx="827405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ArrayList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 txBox="1"/>
          <p:nvPr/>
        </p:nvSpPr>
        <p:spPr>
          <a:xfrm>
            <a:off x="855345" y="5311140"/>
            <a:ext cx="2002790" cy="82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mic Sans MS"/>
              <a:buNone/>
            </a:pPr>
            <a:r>
              <a:rPr lang="en-US" sz="1200" b="1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Dynamic array implementation that can store objects of any type</a:t>
            </a:r>
            <a:endParaRPr sz="1200" b="1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1" name="Google Shape;161;p6"/>
          <p:cNvSpPr txBox="1"/>
          <p:nvPr/>
        </p:nvSpPr>
        <p:spPr>
          <a:xfrm>
            <a:off x="3206750" y="5288280"/>
            <a:ext cx="1760855" cy="101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mic Sans MS"/>
              <a:buNone/>
            </a:pPr>
            <a:r>
              <a:rPr lang="en-US" sz="1200" b="1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Collection class that represents a collection of key-value pairs sorted by key.</a:t>
            </a:r>
            <a:endParaRPr sz="1200" b="1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7449185" y="5327650"/>
            <a:ext cx="1920875" cy="101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mic Sans MS"/>
              <a:buNone/>
            </a:pPr>
            <a:r>
              <a:rPr lang="en-US" sz="1200" b="1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Stack is a collection class that represents a last-in, first-out (LIFO) collection of objects.</a:t>
            </a:r>
            <a:endParaRPr sz="1200" b="1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63" name="Google Shape;163;p6" descr="List with solid fill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507526" y="3497445"/>
            <a:ext cx="621792" cy="6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6"/>
          <p:cNvSpPr txBox="1"/>
          <p:nvPr/>
        </p:nvSpPr>
        <p:spPr>
          <a:xfrm>
            <a:off x="9558655" y="5351780"/>
            <a:ext cx="2132330" cy="82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mic Sans MS"/>
              <a:buNone/>
            </a:pPr>
            <a:r>
              <a:rPr lang="en-US" sz="1200" b="1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Queue is a collection class that represents a first-in, first-out (FIFO) collection of objects.</a:t>
            </a:r>
            <a:endParaRPr sz="1200" b="1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65" name="Google Shape;165;p6" descr="191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95265" y="4316095"/>
            <a:ext cx="1522095" cy="737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6" descr="191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70140" y="4316095"/>
            <a:ext cx="1522095" cy="737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6" descr="191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2165" y="4316095"/>
            <a:ext cx="1522095" cy="73723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"/>
          <p:cNvSpPr txBox="1"/>
          <p:nvPr/>
        </p:nvSpPr>
        <p:spPr>
          <a:xfrm>
            <a:off x="3620770" y="4529455"/>
            <a:ext cx="932815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SortedList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 txBox="1"/>
          <p:nvPr/>
        </p:nvSpPr>
        <p:spPr>
          <a:xfrm>
            <a:off x="5571490" y="4531360"/>
            <a:ext cx="1042670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HashTable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 txBox="1"/>
          <p:nvPr/>
        </p:nvSpPr>
        <p:spPr>
          <a:xfrm>
            <a:off x="10181590" y="4531360"/>
            <a:ext cx="1042670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 txBox="1"/>
          <p:nvPr/>
        </p:nvSpPr>
        <p:spPr>
          <a:xfrm>
            <a:off x="7978140" y="4531360"/>
            <a:ext cx="1042670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6" descr="Aitrich-Logo-Transparent-BG-2048x67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6" descr="painted-surface-with-abstract-water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3795" y="3303270"/>
            <a:ext cx="1343025" cy="1010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6" descr="List with solid fill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527211" y="3497445"/>
            <a:ext cx="621792" cy="621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/>
          <p:cNvSpPr txBox="1">
            <a:spLocks noGrp="1"/>
          </p:cNvSpPr>
          <p:nvPr>
            <p:ph type="title"/>
          </p:nvPr>
        </p:nvSpPr>
        <p:spPr>
          <a:xfrm>
            <a:off x="909320" y="55816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ct val="1000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ARRAY LIST</a:t>
            </a:r>
            <a:b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</a:b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775970" y="3278505"/>
            <a:ext cx="6370320" cy="126809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omic Sans MS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provides a resizable array-like data structure with automatic expansion and contraction capabilities.</a:t>
            </a:r>
            <a:endParaRPr sz="1600" b="0" i="1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776605" y="2025650"/>
            <a:ext cx="6369685" cy="92646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C#, an ArrayList is a dynamic array implementation that can store objects of any type. 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82" name="Google Shape;182;p7" descr="495252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266940" y="859155"/>
            <a:ext cx="4351655" cy="5802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7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"/>
          <p:cNvSpPr/>
          <p:nvPr/>
        </p:nvSpPr>
        <p:spPr>
          <a:xfrm>
            <a:off x="848360" y="2639060"/>
            <a:ext cx="6370320" cy="326771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17145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6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6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6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It provides methods such as</a:t>
            </a:r>
            <a:endParaRPr sz="16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6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</a:t>
            </a:r>
            <a:endParaRPr sz="1600" b="0" u="none" strike="noStrike" cap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6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Add</a:t>
            </a:r>
            <a:endParaRPr sz="1600" b="0" u="none" strike="noStrike" cap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6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Remove</a:t>
            </a:r>
            <a:endParaRPr sz="16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600" dirty="0" err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RemoveAt</a:t>
            </a:r>
            <a:endParaRPr sz="1600" b="0" u="none" strike="noStrike" cap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6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Insert</a:t>
            </a:r>
            <a:endParaRPr sz="1600" b="0" u="none" strike="noStrike" cap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600" dirty="0" err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IndexOf</a:t>
            </a:r>
            <a:endParaRPr sz="1600" b="0" u="none" strike="noStrike" cap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6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Contains</a:t>
            </a:r>
            <a:endParaRPr sz="1600" b="0" u="none" strike="noStrike" cap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6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Count</a:t>
            </a:r>
            <a:endParaRPr sz="16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6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Sort</a:t>
            </a:r>
            <a:endParaRPr sz="1600" b="0" u="none" strike="noStrike" cap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17145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600" b="0" u="none" strike="noStrike" cap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u="none" strike="noStrike" cap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89" name="Google Shape;189;p8" descr="39079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450455" y="1701396"/>
            <a:ext cx="4351655" cy="435165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8"/>
          <p:cNvSpPr/>
          <p:nvPr/>
        </p:nvSpPr>
        <p:spPr>
          <a:xfrm>
            <a:off x="848360" y="1345565"/>
            <a:ext cx="6369685" cy="92646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Array list class is defined in the System.Collections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namespace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91" name="Google Shape;191;p8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Example</a:t>
            </a:r>
            <a:endParaRPr b="1">
              <a:solidFill>
                <a:srgbClr val="012D86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97" name="Google Shape;197;p9" descr="A screenshot of a computer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13025" t="17499" r="15964" b="713"/>
          <a:stretch/>
        </p:blipFill>
        <p:spPr>
          <a:xfrm>
            <a:off x="944875" y="1331975"/>
            <a:ext cx="10515600" cy="455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9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HASHTABLE</a:t>
            </a:r>
            <a:endParaRPr b="1">
              <a:solidFill>
                <a:srgbClr val="012D86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204" name="Google Shape;204;p10" descr="70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328535" y="1510665"/>
            <a:ext cx="4351655" cy="435165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0"/>
          <p:cNvSpPr/>
          <p:nvPr/>
        </p:nvSpPr>
        <p:spPr>
          <a:xfrm>
            <a:off x="838200" y="1842135"/>
            <a:ext cx="6369685" cy="171704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C#, a Hashtable is a collection class that represents a collection of key-value pairs in which keys are unique and the values can be of any type. 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847725" y="3842385"/>
            <a:ext cx="6369685" cy="118999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provides a fast way to store and retrieve data by using a hash table algorithm that maps keys to their corresponding values.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07" name="Google Shape;207;p10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"/>
          <p:cNvSpPr/>
          <p:nvPr/>
        </p:nvSpPr>
        <p:spPr>
          <a:xfrm>
            <a:off x="1075690" y="2461260"/>
            <a:ext cx="6369685" cy="330009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17145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600" i="1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6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It provides methods such as </a:t>
            </a:r>
            <a:endParaRPr sz="1600" b="0" u="none" strike="noStrike" cap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6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Add</a:t>
            </a:r>
            <a:endParaRPr sz="1600" b="0" u="none" strike="noStrike" cap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6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Remove</a:t>
            </a:r>
            <a:endParaRPr sz="1600" b="0" u="none" strike="noStrike" cap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6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Contains</a:t>
            </a:r>
            <a:endParaRPr sz="1600" b="0" u="none" strike="noStrike" cap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600" dirty="0" err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ContainsKey</a:t>
            </a:r>
            <a:endParaRPr sz="1600" b="0" u="none" strike="noStrike" cap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600" dirty="0" err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ContainsValue</a:t>
            </a:r>
            <a:endParaRPr sz="1600" b="0" u="none" strike="noStrike" cap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6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Count.</a:t>
            </a:r>
            <a:endParaRPr sz="1600" b="0" u="none" strike="noStrike" cap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171450" algn="l" rtl="0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600" b="0" i="1" u="none" strike="noStrike" cap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1" u="none" strike="noStrike" cap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13" name="Google Shape;213;p11" descr="39079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552055" y="2054225"/>
            <a:ext cx="4351655" cy="435165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1"/>
          <p:cNvSpPr/>
          <p:nvPr/>
        </p:nvSpPr>
        <p:spPr>
          <a:xfrm>
            <a:off x="1075690" y="1259205"/>
            <a:ext cx="6369685" cy="79502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Hashtable class is defined in the System.Collections namespace 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15" name="Google Shape;215;p11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Example</a:t>
            </a:r>
            <a:endParaRPr/>
          </a:p>
        </p:txBody>
      </p:sp>
      <p:pic>
        <p:nvPicPr>
          <p:cNvPr id="221" name="Google Shape;221;p12" descr="A screenshot of a computer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2540000"/>
            <a:ext cx="5181600" cy="292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2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QUEUE</a:t>
            </a:r>
            <a:endParaRPr b="1">
              <a:solidFill>
                <a:srgbClr val="012D86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574040" y="2096135"/>
            <a:ext cx="6369685" cy="129095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C#, a Queue is a collection class that represents a first-in, first-out (FIFO) collection of objects.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574040" y="3709035"/>
            <a:ext cx="6369685" cy="136080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It provides a way to store and retrieve objects in a "first in, first out" order, where the first object added is the first object to be removed.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30" name="Google Shape;230;p13" descr="2007.i105.015_isometric_queue_set-0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943725" y="1807210"/>
            <a:ext cx="5181600" cy="3596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3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4"/>
          <p:cNvSpPr/>
          <p:nvPr/>
        </p:nvSpPr>
        <p:spPr>
          <a:xfrm>
            <a:off x="919479" y="2184006"/>
            <a:ext cx="6369685" cy="262445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16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provides methods such as</a:t>
            </a:r>
            <a:endParaRPr sz="1600" b="0" i="0" u="none" strike="noStrike" cap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16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Enqueue</a:t>
            </a:r>
            <a:endParaRPr sz="1600" b="0" i="0" u="none" strike="noStrike" cap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16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Dequeue,</a:t>
            </a:r>
            <a:endParaRPr sz="1600" b="0" i="0" u="none" strike="noStrike" cap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16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Peek</a:t>
            </a:r>
            <a:endParaRPr sz="1600" b="0" i="0" u="none" strike="noStrike" cap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16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Count.</a:t>
            </a:r>
            <a:endParaRPr sz="16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37" name="Google Shape;237;p14" descr="39079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582535" y="1691005"/>
            <a:ext cx="4351655" cy="435165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4"/>
          <p:cNvSpPr/>
          <p:nvPr/>
        </p:nvSpPr>
        <p:spPr>
          <a:xfrm>
            <a:off x="919480" y="1152525"/>
            <a:ext cx="6369685" cy="84518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Queue class is defined in the System.Collections namespace 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39" name="Google Shape;239;p14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Example</a:t>
            </a:r>
            <a:endParaRPr/>
          </a:p>
        </p:txBody>
      </p:sp>
      <p:pic>
        <p:nvPicPr>
          <p:cNvPr id="245" name="Google Shape;245;p15" descr="Tex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2317750"/>
            <a:ext cx="5181600" cy="3366770"/>
          </a:xfrm>
          <a:prstGeom prst="roundRect">
            <a:avLst>
              <a:gd name="adj" fmla="val 4380"/>
            </a:avLst>
          </a:prstGeom>
          <a:noFill/>
          <a:ln w="50800" cap="sq" cmpd="dbl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54000" algn="tl" rotWithShape="0">
              <a:srgbClr val="000000">
                <a:alpha val="42352"/>
              </a:srgbClr>
            </a:outerShdw>
          </a:effectLst>
        </p:spPr>
      </p:pic>
      <p:pic>
        <p:nvPicPr>
          <p:cNvPr id="246" name="Google Shape;246;p15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STACK</a:t>
            </a:r>
            <a:endParaRPr b="1">
              <a:solidFill>
                <a:srgbClr val="012D86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52" name="Google Shape;252;p16"/>
          <p:cNvSpPr/>
          <p:nvPr/>
        </p:nvSpPr>
        <p:spPr>
          <a:xfrm>
            <a:off x="736600" y="1691005"/>
            <a:ext cx="6369685" cy="129095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16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C#, a Stack is a collection class that represents a last-in, first-out (LIFO) collection of objects.</a:t>
            </a:r>
            <a:endParaRPr sz="16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736600" y="3202940"/>
            <a:ext cx="6369685" cy="136080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It provides a way to store and retrieve objects in a "Last in, first out" order, where the first object added is the first object to be removed.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54" name="Google Shape;254;p16" descr="688127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389495" y="1572260"/>
            <a:ext cx="4351655" cy="4351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6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7"/>
          <p:cNvSpPr/>
          <p:nvPr/>
        </p:nvSpPr>
        <p:spPr>
          <a:xfrm>
            <a:off x="909320" y="2381885"/>
            <a:ext cx="6369685" cy="249428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16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provides methods such as</a:t>
            </a:r>
            <a:endParaRPr sz="1600" b="0" i="0" u="none" strike="noStrike" cap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16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Push</a:t>
            </a:r>
            <a:endParaRPr sz="1600" b="0" i="0" u="none" strike="noStrike" cap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16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Pop,</a:t>
            </a:r>
            <a:endParaRPr sz="1600" b="0" i="0" u="none" strike="noStrike" cap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16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Peek</a:t>
            </a:r>
            <a:endParaRPr sz="1600" b="0" i="0" u="none" strike="noStrike" cap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16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Count.</a:t>
            </a:r>
            <a:endParaRPr sz="1600" b="0" i="0" u="none" strike="noStrike" cap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n-US" sz="16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Contains</a:t>
            </a:r>
            <a:endParaRPr sz="16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61" name="Google Shape;261;p17" descr="39079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399020" y="1551305"/>
            <a:ext cx="4351655" cy="435165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7"/>
          <p:cNvSpPr/>
          <p:nvPr/>
        </p:nvSpPr>
        <p:spPr>
          <a:xfrm>
            <a:off x="909320" y="1206500"/>
            <a:ext cx="6369685" cy="84518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16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Stack class is defined in the </a:t>
            </a:r>
            <a:r>
              <a:rPr lang="en-US" sz="1600" b="1" dirty="0" err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System.Collections</a:t>
            </a:r>
            <a:r>
              <a:rPr lang="en-US" sz="1600" b="1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16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namespace </a:t>
            </a:r>
            <a:endParaRPr sz="16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63" name="Google Shape;263;p17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Example</a:t>
            </a:r>
            <a:endParaRPr/>
          </a:p>
        </p:txBody>
      </p:sp>
      <p:pic>
        <p:nvPicPr>
          <p:cNvPr id="269" name="Google Shape;269;p18" descr="Tex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2320925"/>
            <a:ext cx="5181600" cy="3359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8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SORTED LIST</a:t>
            </a:r>
            <a:endParaRPr b="1">
              <a:solidFill>
                <a:srgbClr val="012D86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76" name="Google Shape;276;p19"/>
          <p:cNvSpPr/>
          <p:nvPr/>
        </p:nvSpPr>
        <p:spPr>
          <a:xfrm>
            <a:off x="736600" y="1933575"/>
            <a:ext cx="6369685" cy="84518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Sorted List is a collection class that represents a collection of key-value pairs sorted by key.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77" name="Google Shape;277;p19"/>
          <p:cNvSpPr/>
          <p:nvPr/>
        </p:nvSpPr>
        <p:spPr>
          <a:xfrm>
            <a:off x="736600" y="3037840"/>
            <a:ext cx="6369685" cy="56896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A key cannot be a null reference, but a value can be.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78" name="Google Shape;278;p19"/>
          <p:cNvSpPr/>
          <p:nvPr/>
        </p:nvSpPr>
        <p:spPr>
          <a:xfrm>
            <a:off x="736600" y="4648200"/>
            <a:ext cx="6369685" cy="711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A SortedList object automatically sort the items in alphabetic or numeric order.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79" name="Google Shape;279;p19"/>
          <p:cNvSpPr/>
          <p:nvPr/>
        </p:nvSpPr>
        <p:spPr>
          <a:xfrm>
            <a:off x="736600" y="5590540"/>
            <a:ext cx="6369685" cy="56896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uses a binary search algorithm to locate elements quickly.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80" name="Google Shape;280;p19"/>
          <p:cNvSpPr/>
          <p:nvPr/>
        </p:nvSpPr>
        <p:spPr>
          <a:xfrm>
            <a:off x="736600" y="3848100"/>
            <a:ext cx="6369685" cy="56896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SortedList is a combination of the Array and the Hashtable.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81" name="Google Shape;281;p19" descr="4612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247890" y="1807845"/>
            <a:ext cx="4351655" cy="4351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19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20" descr="39079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388860" y="1541780"/>
            <a:ext cx="4351655" cy="435165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0"/>
          <p:cNvSpPr/>
          <p:nvPr/>
        </p:nvSpPr>
        <p:spPr>
          <a:xfrm>
            <a:off x="909320" y="1315085"/>
            <a:ext cx="6369685" cy="84518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Sorted List class is defined in the </a:t>
            </a: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System.Collections 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namespace 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89" name="Google Shape;289;p20"/>
          <p:cNvSpPr/>
          <p:nvPr/>
        </p:nvSpPr>
        <p:spPr>
          <a:xfrm>
            <a:off x="909320" y="2405380"/>
            <a:ext cx="6369685" cy="309816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18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provides methods such as</a:t>
            </a:r>
            <a:endParaRPr sz="1800" b="0" i="0" u="none" strike="noStrike" cap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Add</a:t>
            </a:r>
            <a:endParaRPr sz="1800" b="0" i="0" u="none" strike="noStrike" cap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Remove,</a:t>
            </a:r>
            <a:endParaRPr sz="1800" b="0" i="0" u="none" strike="noStrike" cap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Contains key</a:t>
            </a:r>
            <a:endParaRPr sz="1800" b="0" i="0" u="none" strike="noStrike" cap="none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n-US" sz="1800" dirty="0" err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IndexOfKey</a:t>
            </a:r>
            <a:endParaRPr sz="18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n-US" sz="1800" dirty="0" err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IndexOfValue</a:t>
            </a: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Count</a:t>
            </a:r>
            <a:endParaRPr sz="18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90" name="Google Shape;290;p20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Example</a:t>
            </a:r>
            <a:endParaRPr/>
          </a:p>
        </p:txBody>
      </p:sp>
      <p:pic>
        <p:nvPicPr>
          <p:cNvPr id="296" name="Google Shape;296;p21" descr="Text&#10;&#10;Description automatically generated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283335" y="2160270"/>
            <a:ext cx="5181600" cy="3256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1" descr="Graphical user interface, text, applicatio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t="5201" r="-349" b="577"/>
          <a:stretch/>
        </p:blipFill>
        <p:spPr>
          <a:xfrm>
            <a:off x="7740122" y="2342902"/>
            <a:ext cx="4041089" cy="2294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1" descr="Aitrich-Logo-Transparent-BG-2048x67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2"/>
          <p:cNvSpPr txBox="1">
            <a:spLocks noGrp="1"/>
          </p:cNvSpPr>
          <p:nvPr>
            <p:ph type="body" idx="1"/>
          </p:nvPr>
        </p:nvSpPr>
        <p:spPr>
          <a:xfrm>
            <a:off x="442595" y="638810"/>
            <a:ext cx="8203565" cy="2009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endParaRPr sz="4800" b="1">
              <a:solidFill>
                <a:srgbClr val="012D86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2D86"/>
              </a:buClr>
              <a:buSzPts val="4800"/>
              <a:buNone/>
            </a:pPr>
            <a:r>
              <a:rPr lang="en-US" sz="4800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GENERIC COLLECTIONS</a:t>
            </a:r>
            <a:endParaRPr sz="4800" b="1">
              <a:solidFill>
                <a:srgbClr val="012D86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endParaRPr sz="4800" b="1">
              <a:solidFill>
                <a:srgbClr val="012D86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304" name="Google Shape;304;p22" descr="2106.w022.n001.434B.p15.434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172200" y="3726180"/>
            <a:ext cx="5181600" cy="184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2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4650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3" descr="191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08325" y="4342130"/>
            <a:ext cx="1974850" cy="73723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3"/>
          <p:cNvSpPr/>
          <p:nvPr/>
        </p:nvSpPr>
        <p:spPr>
          <a:xfrm>
            <a:off x="870585" y="1095375"/>
            <a:ext cx="10104120" cy="50419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Generic collections are collections that are type-safe and can only hold objects of a specifictype. 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12" name="Google Shape;312;p23"/>
          <p:cNvSpPr/>
          <p:nvPr/>
        </p:nvSpPr>
        <p:spPr>
          <a:xfrm>
            <a:off x="870585" y="1957070"/>
            <a:ext cx="8725535" cy="48196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They are defined in the System.Collections.Generic namespace and include the following classes: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313" name="Google Shape;313;p23" descr="painted-surface-with-abstract-water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4110" y="3303270"/>
            <a:ext cx="1343025" cy="1010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3" descr="painted-surface-with-abstract-water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49875" y="3303270"/>
            <a:ext cx="1343025" cy="1010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3" descr="painted-surface-with-abstract-water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00315" y="3303270"/>
            <a:ext cx="1343025" cy="1010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3" descr="painted-surface-with-abstract-water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69475" y="3378200"/>
            <a:ext cx="1343025" cy="1010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3" descr="painted-surface-with-abstract-water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35020" y="3303905"/>
            <a:ext cx="1343025" cy="1010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3" descr="Group of people with solid fill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3528060" y="337820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3" descr="Chevron arrows with solid fill"/>
          <p:cNvPicPr preferRelativeResize="0"/>
          <p:nvPr/>
        </p:nvPicPr>
        <p:blipFill rotWithShape="1">
          <a:blip r:embed="rId6">
            <a:alphaModFix/>
          </a:blip>
          <a:srcRect l="128" r="128"/>
          <a:stretch/>
        </p:blipFill>
        <p:spPr>
          <a:xfrm>
            <a:off x="5701466" y="3610718"/>
            <a:ext cx="62179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3" descr="Database with solid fill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20355" y="3572510"/>
            <a:ext cx="621665" cy="621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3" descr="Group with solid fil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139250" y="3572585"/>
            <a:ext cx="62179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3" descr="191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7915" y="4314190"/>
            <a:ext cx="1522095" cy="73723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3"/>
          <p:cNvSpPr txBox="1"/>
          <p:nvPr/>
        </p:nvSpPr>
        <p:spPr>
          <a:xfrm>
            <a:off x="1442720" y="4531360"/>
            <a:ext cx="827405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List&lt;T&gt;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3"/>
          <p:cNvSpPr txBox="1"/>
          <p:nvPr/>
        </p:nvSpPr>
        <p:spPr>
          <a:xfrm>
            <a:off x="855345" y="5311140"/>
            <a:ext cx="1764030" cy="64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1600"/>
              <a:buFont typeface="Comic Sans MS"/>
              <a:buNone/>
            </a:pPr>
            <a:r>
              <a:rPr lang="en-US" sz="1200">
                <a:solidFill>
                  <a:srgbClr val="012D86"/>
                </a:solidFill>
                <a:latin typeface="Comic Sans MS"/>
                <a:ea typeface="Comic Sans MS"/>
                <a:cs typeface="Comic Sans MS"/>
                <a:sym typeface="Comic Sans MS"/>
              </a:rPr>
              <a:t>A dynamic-sized list that can hold objects of type T.</a:t>
            </a:r>
            <a:endParaRPr sz="1200" b="1">
              <a:solidFill>
                <a:srgbClr val="012D86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25" name="Google Shape;325;p23"/>
          <p:cNvSpPr txBox="1"/>
          <p:nvPr/>
        </p:nvSpPr>
        <p:spPr>
          <a:xfrm>
            <a:off x="3206750" y="5288280"/>
            <a:ext cx="1915160" cy="82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1600"/>
              <a:buFont typeface="Comic Sans MS"/>
              <a:buNone/>
            </a:pPr>
            <a:r>
              <a:rPr lang="en-US" sz="1200" i="1">
                <a:solidFill>
                  <a:srgbClr val="012D86"/>
                </a:solidFill>
                <a:latin typeface="Comic Sans MS"/>
                <a:ea typeface="Comic Sans MS"/>
                <a:cs typeface="Comic Sans MS"/>
                <a:sym typeface="Comic Sans MS"/>
              </a:rPr>
              <a:t>A collection of key/value pairs that maps keys of type TKey to values of type TValue.</a:t>
            </a:r>
            <a:endParaRPr sz="1200" b="1" i="1">
              <a:solidFill>
                <a:srgbClr val="012D86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26" name="Google Shape;326;p23"/>
          <p:cNvSpPr txBox="1"/>
          <p:nvPr/>
        </p:nvSpPr>
        <p:spPr>
          <a:xfrm>
            <a:off x="7449185" y="5327650"/>
            <a:ext cx="1920875" cy="101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600"/>
              <a:buFont typeface="Comic Sans MS"/>
              <a:buNone/>
            </a:pPr>
            <a:r>
              <a:rPr lang="en-US" sz="1200">
                <a:solidFill>
                  <a:srgbClr val="1F3864"/>
                </a:solidFill>
                <a:latin typeface="Comic Sans MS"/>
                <a:ea typeface="Comic Sans MS"/>
                <a:cs typeface="Comic Sans MS"/>
                <a:sym typeface="Comic Sans MS"/>
              </a:rPr>
              <a:t>A collection of objects that supports adding and removing objects in a LIFO (last-in, first-out) manner.</a:t>
            </a:r>
            <a:endParaRPr sz="1200" b="1">
              <a:solidFill>
                <a:srgbClr val="1F3864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327" name="Google Shape;327;p23" descr="List with solid fill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507526" y="3497445"/>
            <a:ext cx="621792" cy="6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3"/>
          <p:cNvSpPr txBox="1"/>
          <p:nvPr/>
        </p:nvSpPr>
        <p:spPr>
          <a:xfrm>
            <a:off x="9558655" y="5351780"/>
            <a:ext cx="2132330" cy="82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600"/>
              <a:buFont typeface="Comic Sans MS"/>
              <a:buNone/>
            </a:pPr>
            <a:r>
              <a:rPr lang="en-US" sz="1200">
                <a:solidFill>
                  <a:srgbClr val="1F3864"/>
                </a:solidFill>
                <a:latin typeface="Comic Sans MS"/>
                <a:ea typeface="Comic Sans MS"/>
                <a:cs typeface="Comic Sans MS"/>
                <a:sym typeface="Comic Sans MS"/>
              </a:rPr>
              <a:t>A collection of objects that supports adding and removing objects in a FIFO (first-in, first-out) manner.</a:t>
            </a:r>
            <a:endParaRPr sz="1200" b="1">
              <a:solidFill>
                <a:srgbClr val="1F3864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329" name="Google Shape;329;p23" descr="191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62550" y="4342130"/>
            <a:ext cx="1945005" cy="737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3" descr="191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70140" y="4316095"/>
            <a:ext cx="1522095" cy="737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3" descr="191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2165" y="4316095"/>
            <a:ext cx="1522095" cy="73723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3"/>
          <p:cNvSpPr txBox="1"/>
          <p:nvPr/>
        </p:nvSpPr>
        <p:spPr>
          <a:xfrm>
            <a:off x="3335020" y="4580890"/>
            <a:ext cx="178689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Dictionary&lt;Tkey,TValue&gt;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3"/>
          <p:cNvSpPr txBox="1"/>
          <p:nvPr/>
        </p:nvSpPr>
        <p:spPr>
          <a:xfrm>
            <a:off x="5408295" y="4580890"/>
            <a:ext cx="1985645" cy="275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SortedList&lt;TKey,TValue&gt;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3"/>
          <p:cNvSpPr txBox="1"/>
          <p:nvPr/>
        </p:nvSpPr>
        <p:spPr>
          <a:xfrm>
            <a:off x="10069830" y="4565015"/>
            <a:ext cx="1042670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Queue&lt;T&gt;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3"/>
          <p:cNvSpPr txBox="1"/>
          <p:nvPr/>
        </p:nvSpPr>
        <p:spPr>
          <a:xfrm>
            <a:off x="7978140" y="4531360"/>
            <a:ext cx="1042670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Stack&lt;T&gt;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6" name="Google Shape;336;p23" descr="Aitrich-Logo-Transparent-BG-2048x67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3"/>
          <p:cNvSpPr txBox="1"/>
          <p:nvPr/>
        </p:nvSpPr>
        <p:spPr>
          <a:xfrm>
            <a:off x="5349875" y="5288280"/>
            <a:ext cx="1837690" cy="64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1600"/>
              <a:buFont typeface="Quattrocento Sans"/>
              <a:buNone/>
            </a:pPr>
            <a:r>
              <a:rPr lang="en-US" sz="1200" i="1">
                <a:solidFill>
                  <a:srgbClr val="012D8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collection of key/value pairs that are sorted by the keys of type TKey.</a:t>
            </a:r>
            <a:endParaRPr sz="1200" i="1">
              <a:solidFill>
                <a:srgbClr val="012D8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ct val="1000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LIST&lt;T&gt;</a:t>
            </a:r>
            <a:b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</a:br>
            <a:endParaRPr/>
          </a:p>
        </p:txBody>
      </p:sp>
      <p:sp>
        <p:nvSpPr>
          <p:cNvPr id="343" name="Google Shape;343;p24"/>
          <p:cNvSpPr/>
          <p:nvPr/>
        </p:nvSpPr>
        <p:spPr>
          <a:xfrm>
            <a:off x="775970" y="3110865"/>
            <a:ext cx="6370320" cy="126809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omic Sans MS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It is defined in the </a:t>
            </a: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System.Collections.Generic 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namespace and provides a flexible way to store and manipulate collections of objects.</a:t>
            </a:r>
            <a:endParaRPr sz="1600" b="0" i="1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44" name="Google Shape;344;p24"/>
          <p:cNvSpPr/>
          <p:nvPr/>
        </p:nvSpPr>
        <p:spPr>
          <a:xfrm>
            <a:off x="776605" y="2025650"/>
            <a:ext cx="6369685" cy="92646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</a:t>
            </a: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List&lt;T&gt;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in C# is a generic collection that represents a dynamic-sized list of objects of type </a:t>
            </a: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45" name="Google Shape;345;p24"/>
          <p:cNvSpPr/>
          <p:nvPr/>
        </p:nvSpPr>
        <p:spPr>
          <a:xfrm>
            <a:off x="776605" y="4537710"/>
            <a:ext cx="6369685" cy="92646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mic Sans MS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List&lt;T&gt; class is the generic equivalent of the </a:t>
            </a: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ArrayList 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class. 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346" name="Google Shape;346;p24" descr="495252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226300" y="1569085"/>
            <a:ext cx="4351655" cy="4351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4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3200"/>
              <a:buFont typeface="Bell MT"/>
              <a:buNone/>
            </a:pPr>
            <a:r>
              <a:rPr lang="en-US" sz="3200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Some of the main features of List&lt;T&gt; include:</a:t>
            </a:r>
            <a:br>
              <a:rPr lang="en-US" sz="3200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</a:br>
            <a:r>
              <a:rPr lang="en-US" sz="3200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/>
            </a:r>
            <a:br>
              <a:rPr lang="en-US" sz="3200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</a:br>
            <a:endParaRPr sz="3200" b="1">
              <a:solidFill>
                <a:srgbClr val="012D86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353" name="Google Shape;353;p25" descr="70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03565" y="1746250"/>
            <a:ext cx="3150235" cy="465455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5"/>
          <p:cNvSpPr/>
          <p:nvPr/>
        </p:nvSpPr>
        <p:spPr>
          <a:xfrm>
            <a:off x="775335" y="2552065"/>
            <a:ext cx="6370320" cy="101473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mic Sans MS"/>
              <a:buNone/>
            </a:pP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Type safety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: Since </a:t>
            </a: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List&lt;T&gt;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is a generic collection, it can only hold objects of type </a:t>
            </a: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which provides type safety and prevents runtime errors.</a:t>
            </a:r>
            <a:endParaRPr sz="1600" b="0" i="1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55" name="Google Shape;355;p25"/>
          <p:cNvSpPr/>
          <p:nvPr/>
        </p:nvSpPr>
        <p:spPr>
          <a:xfrm>
            <a:off x="775970" y="3685540"/>
            <a:ext cx="6369685" cy="92646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mic Sans MS"/>
              <a:buNone/>
            </a:pP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Index-based access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: Items in a </a:t>
            </a: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List&lt;T&gt;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can be accessed by their index, making it easy to retrieve and manipulate specific items in the list.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56" name="Google Shape;356;p25"/>
          <p:cNvSpPr/>
          <p:nvPr/>
        </p:nvSpPr>
        <p:spPr>
          <a:xfrm>
            <a:off x="775335" y="4730750"/>
            <a:ext cx="6369685" cy="92646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mic Sans MS"/>
              <a:buNone/>
            </a:pP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Built-in functionality 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: </a:t>
            </a: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List&lt;T&gt;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provides a range of methods for adding, removing, searching, and sorting items in the list.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57" name="Google Shape;357;p25"/>
          <p:cNvSpPr/>
          <p:nvPr/>
        </p:nvSpPr>
        <p:spPr>
          <a:xfrm>
            <a:off x="775970" y="1506855"/>
            <a:ext cx="6369685" cy="92646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mic Sans MS"/>
              <a:buNone/>
            </a:pP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Dynamic sizing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: The size of a </a:t>
            </a: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List&lt;T&gt;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can be modified at runtime, allowing you to add or remove items as needed.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358" name="Google Shape;358;p25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Example</a:t>
            </a:r>
            <a:endParaRPr/>
          </a:p>
        </p:txBody>
      </p:sp>
      <p:pic>
        <p:nvPicPr>
          <p:cNvPr id="364" name="Google Shape;364;p26" descr="Tex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2232660"/>
            <a:ext cx="5181600" cy="3536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6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ct val="100000"/>
              <a:buFont typeface="Bell MT"/>
              <a:buNone/>
            </a:pPr>
            <a:r>
              <a:rPr lang="en-US" b="1">
                <a:solidFill>
                  <a:srgbClr val="1F3864"/>
                </a:solidFill>
                <a:latin typeface="Bell MT"/>
                <a:ea typeface="Bell MT"/>
                <a:cs typeface="Bell MT"/>
                <a:sym typeface="Bell MT"/>
              </a:rPr>
              <a:t>DICTIONARY&lt;TKEY, TVALUE&gt;</a:t>
            </a:r>
            <a:r>
              <a:rPr lang="en-US" b="1"/>
              <a:t/>
            </a:r>
            <a:br>
              <a:rPr lang="en-US" b="1"/>
            </a:br>
            <a:endParaRPr/>
          </a:p>
        </p:txBody>
      </p:sp>
      <p:sp>
        <p:nvSpPr>
          <p:cNvPr id="371" name="Google Shape;371;p27"/>
          <p:cNvSpPr/>
          <p:nvPr/>
        </p:nvSpPr>
        <p:spPr>
          <a:xfrm>
            <a:off x="776605" y="3394710"/>
            <a:ext cx="6370320" cy="126809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mic Sans MS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is defined in the System.Collections.Generic namespace and provides a flexible way to store and manipulate collections of key/value pairs.​</a:t>
            </a:r>
            <a:endParaRPr sz="1600" b="0" i="1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72" name="Google Shape;372;p27"/>
          <p:cNvSpPr/>
          <p:nvPr/>
        </p:nvSpPr>
        <p:spPr>
          <a:xfrm>
            <a:off x="777240" y="2219960"/>
            <a:ext cx="6369685" cy="92646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is a generic collection that represents a collection of key/value pairs. 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373" name="Google Shape;373;p27" descr="Aitrich-Logo-Transparent-BG-2048x6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28" descr="70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03565" y="1746250"/>
            <a:ext cx="3150235" cy="465455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8"/>
          <p:cNvSpPr/>
          <p:nvPr/>
        </p:nvSpPr>
        <p:spPr>
          <a:xfrm>
            <a:off x="775970" y="2632710"/>
            <a:ext cx="6370320" cy="86296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alibri"/>
              <a:buNone/>
            </a:pP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Fast lookup: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Because </a:t>
            </a: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Dictionary&lt;TKey, TValue&gt;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is implemented as a hash table, accessing an element in the dictionary by key is very fast. </a:t>
            </a:r>
            <a:endParaRPr sz="1600" b="0" i="1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80" name="Google Shape;380;p28"/>
          <p:cNvSpPr/>
          <p:nvPr/>
        </p:nvSpPr>
        <p:spPr>
          <a:xfrm>
            <a:off x="775970" y="3744595"/>
            <a:ext cx="6369685" cy="92646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alibri"/>
              <a:buNone/>
            </a:pP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Dynamic sizing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: The size of a </a:t>
            </a: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Dictionary&lt;TKey, TValue&gt;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can be modified at runtime, allowing you to add or remove key/value pairs as needed.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81" name="Google Shape;381;p28"/>
          <p:cNvSpPr/>
          <p:nvPr/>
        </p:nvSpPr>
        <p:spPr>
          <a:xfrm>
            <a:off x="776605" y="4828540"/>
            <a:ext cx="6369685" cy="102806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alibri"/>
              <a:buNone/>
            </a:pP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Type safety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: Since </a:t>
            </a: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Dictionary&lt;TKey, TValue&gt;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is a generic collection, it can only hold objects of type </a:t>
            </a: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TKey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for keys and </a:t>
            </a: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TValue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for values, which provides type safety and prevents runtime errors.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82" name="Google Shape;382;p28"/>
          <p:cNvSpPr/>
          <p:nvPr/>
        </p:nvSpPr>
        <p:spPr>
          <a:xfrm>
            <a:off x="776605" y="1457325"/>
            <a:ext cx="6369685" cy="92646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alibri"/>
              <a:buNone/>
            </a:pP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Key/value pairs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: A </a:t>
            </a: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Dictionary&lt;TKey, TValue&gt;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stores a collection of key/value pairs. Each key in the dictionary is unique.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383" name="Google Shape;383;p28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9"/>
          <p:cNvSpPr/>
          <p:nvPr/>
        </p:nvSpPr>
        <p:spPr>
          <a:xfrm>
            <a:off x="1010285" y="1431925"/>
            <a:ext cx="6369685" cy="424370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provides methods such as</a:t>
            </a:r>
            <a:endParaRPr sz="20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</a:t>
            </a: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Add(TKey key, TValue value)</a:t>
            </a:r>
            <a:endParaRPr sz="1600" b="0" i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</a:t>
            </a: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ContainsKey(TKey key)</a:t>
            </a: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,</a:t>
            </a:r>
            <a:endParaRPr sz="1600" b="0" i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ContainsValue(TValue value)</a:t>
            </a:r>
            <a:endParaRPr sz="1600" b="1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Remove(TKey key)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Clear()</a:t>
            </a:r>
            <a:endParaRPr sz="1600" b="1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389" name="Google Shape;389;p29" descr="39079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561580" y="1431925"/>
            <a:ext cx="4351655" cy="4351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29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Example</a:t>
            </a:r>
            <a:endParaRPr/>
          </a:p>
        </p:txBody>
      </p:sp>
      <p:pic>
        <p:nvPicPr>
          <p:cNvPr id="396" name="Google Shape;396;p3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2077085"/>
            <a:ext cx="5181600" cy="3726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0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400"/>
              <a:buFont typeface="Bell MT"/>
              <a:buNone/>
            </a:pPr>
            <a:r>
              <a:rPr lang="en-US" b="1">
                <a:solidFill>
                  <a:srgbClr val="1F3864"/>
                </a:solidFill>
                <a:latin typeface="Bell MT"/>
                <a:ea typeface="Bell MT"/>
                <a:cs typeface="Bell MT"/>
                <a:sym typeface="Bell MT"/>
              </a:rPr>
              <a:t>SORTEDLIST&lt;TKEY, TVALUE&gt; </a:t>
            </a:r>
            <a:endParaRPr b="1">
              <a:solidFill>
                <a:srgbClr val="1F3864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03" name="Google Shape;403;p31"/>
          <p:cNvSpPr/>
          <p:nvPr/>
        </p:nvSpPr>
        <p:spPr>
          <a:xfrm>
            <a:off x="777240" y="3220720"/>
            <a:ext cx="6461125" cy="154114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800"/>
              <a:buFont typeface="Comic Sans MS"/>
              <a:buNone/>
            </a:pPr>
            <a:r>
              <a:rPr lang="en-US" sz="1600">
                <a:solidFill>
                  <a:srgbClr val="D1D5DB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is defined in the System.Collections.Generic namespace and provides a way to store and manipulate collections of key/value pairs in a sorted order.</a:t>
            </a:r>
            <a:endParaRPr sz="1600" b="0" i="1" u="none" strike="noStrike" cap="none">
              <a:solidFill>
                <a:srgbClr val="D1D5DB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04" name="Google Shape;404;p31"/>
          <p:cNvSpPr/>
          <p:nvPr/>
        </p:nvSpPr>
        <p:spPr>
          <a:xfrm>
            <a:off x="777240" y="1815465"/>
            <a:ext cx="6461125" cy="103822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SortedList&lt;TKey, TValue&gt;</a:t>
            </a:r>
            <a:r>
              <a:rPr lang="en-US" sz="16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1600">
                <a:solidFill>
                  <a:srgbClr val="D1D5DB"/>
                </a:solidFill>
                <a:latin typeface="Comic Sans MS"/>
                <a:ea typeface="Comic Sans MS"/>
                <a:cs typeface="Comic Sans MS"/>
                <a:sym typeface="Comic Sans MS"/>
              </a:rPr>
              <a:t>is a generic collection that represents a collection of key/value pairs that are sorted by key.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05" name="Google Shape;405;p31" descr="4612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449820" y="1815465"/>
            <a:ext cx="4351655" cy="4351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31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32" descr="70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03565" y="1746250"/>
            <a:ext cx="3150235" cy="465455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2"/>
          <p:cNvSpPr/>
          <p:nvPr/>
        </p:nvSpPr>
        <p:spPr>
          <a:xfrm>
            <a:off x="970280" y="1593850"/>
            <a:ext cx="6369685" cy="424370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provides methods such as</a:t>
            </a:r>
            <a:endParaRPr sz="18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</a:t>
            </a: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Add(TKey key, TValue value)</a:t>
            </a:r>
            <a:endParaRPr sz="1800" b="0" i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</a:t>
            </a: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ContainsKey(TKey key)</a:t>
            </a:r>
            <a:r>
              <a:rPr lang="en-US" sz="1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,</a:t>
            </a:r>
            <a:endParaRPr sz="1800" b="0" i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ContainsValue(TValue value)</a:t>
            </a: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Remove(TKey key)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Clear()</a:t>
            </a:r>
            <a:endParaRPr sz="18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13" name="Google Shape;413;p32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Example</a:t>
            </a:r>
            <a:endParaRPr/>
          </a:p>
        </p:txBody>
      </p:sp>
      <p:pic>
        <p:nvPicPr>
          <p:cNvPr id="419" name="Google Shape;419;p33" descr="Tex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2221230"/>
            <a:ext cx="5181600" cy="3773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33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QUEUE&lt;T&gt;</a:t>
            </a:r>
            <a:endParaRPr b="1">
              <a:solidFill>
                <a:srgbClr val="012D86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26" name="Google Shape;426;p34"/>
          <p:cNvSpPr/>
          <p:nvPr/>
        </p:nvSpPr>
        <p:spPr>
          <a:xfrm>
            <a:off x="574040" y="2096135"/>
            <a:ext cx="6369685" cy="129095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Queue&lt;T&gt;</a:t>
            </a:r>
            <a:r>
              <a:rPr lang="en-US" sz="1600">
                <a:solidFill>
                  <a:srgbClr val="D1D5DB"/>
                </a:solidFill>
                <a:latin typeface="Comic Sans MS"/>
                <a:ea typeface="Comic Sans MS"/>
                <a:cs typeface="Comic Sans MS"/>
                <a:sym typeface="Comic Sans MS"/>
              </a:rPr>
              <a:t> is a generic collection in C# that represents a first-in, first-out (FIFO) data structure.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27" name="Google Shape;427;p34"/>
          <p:cNvSpPr/>
          <p:nvPr/>
        </p:nvSpPr>
        <p:spPr>
          <a:xfrm>
            <a:off x="574040" y="3587115"/>
            <a:ext cx="6369685" cy="136080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800"/>
              <a:buFont typeface="Comic Sans MS"/>
              <a:buNone/>
            </a:pPr>
            <a:r>
              <a:rPr lang="en-US" sz="1600">
                <a:solidFill>
                  <a:srgbClr val="D1D5DB"/>
                </a:solidFill>
                <a:latin typeface="Comic Sans MS"/>
                <a:ea typeface="Comic Sans MS"/>
                <a:cs typeface="Comic Sans MS"/>
                <a:sym typeface="Comic Sans MS"/>
              </a:rPr>
              <a:t> It is defined in the </a:t>
            </a: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System.Collections.Generic</a:t>
            </a:r>
            <a:r>
              <a:rPr lang="en-US" sz="1600">
                <a:solidFill>
                  <a:srgbClr val="D1D5DB"/>
                </a:solidFill>
                <a:latin typeface="Comic Sans MS"/>
                <a:ea typeface="Comic Sans MS"/>
                <a:cs typeface="Comic Sans MS"/>
                <a:sym typeface="Comic Sans MS"/>
              </a:rPr>
              <a:t> namespace and provides a way to store and manipulate a collection of objects in the order in which they were added.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28" name="Google Shape;428;p34" descr="2007.i105.015_isometric_queue_set-0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076440" y="1676400"/>
            <a:ext cx="4847590" cy="3596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34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5"/>
          <p:cNvSpPr/>
          <p:nvPr/>
        </p:nvSpPr>
        <p:spPr>
          <a:xfrm>
            <a:off x="929640" y="2116455"/>
            <a:ext cx="6369685" cy="262445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provides methods such as</a:t>
            </a:r>
            <a:endParaRPr sz="1600" b="0" i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Enqueue</a:t>
            </a:r>
            <a:endParaRPr sz="1600" b="0" i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Dequeue,</a:t>
            </a:r>
            <a:endParaRPr sz="1600" b="0" i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Peek</a:t>
            </a:r>
            <a:endParaRPr sz="1600" b="0" i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Count.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35" name="Google Shape;435;p35" descr="39079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440295" y="1490980"/>
            <a:ext cx="4351655" cy="4351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5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Example</a:t>
            </a:r>
            <a:endParaRPr/>
          </a:p>
        </p:txBody>
      </p:sp>
      <p:pic>
        <p:nvPicPr>
          <p:cNvPr id="442" name="Google Shape;442;p36" descr="Tex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863090"/>
            <a:ext cx="5181600" cy="41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36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STACK&lt;T&gt;</a:t>
            </a:r>
            <a:endParaRPr b="1">
              <a:solidFill>
                <a:srgbClr val="012D86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49" name="Google Shape;449;p37"/>
          <p:cNvSpPr/>
          <p:nvPr/>
        </p:nvSpPr>
        <p:spPr>
          <a:xfrm>
            <a:off x="736600" y="3243580"/>
            <a:ext cx="6369685" cy="136080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mic Sans MS"/>
              <a:buNone/>
            </a:pPr>
            <a:r>
              <a:rPr lang="en-US" sz="1600">
                <a:solidFill>
                  <a:srgbClr val="D1D5DB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is defined in the </a:t>
            </a: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System.Collections.Generic</a:t>
            </a:r>
            <a:r>
              <a:rPr lang="en-US" sz="1600">
                <a:solidFill>
                  <a:srgbClr val="D1D5DB"/>
                </a:solidFill>
                <a:latin typeface="Comic Sans MS"/>
                <a:ea typeface="Comic Sans MS"/>
                <a:cs typeface="Comic Sans MS"/>
                <a:sym typeface="Comic Sans MS"/>
              </a:rPr>
              <a:t> namespace and provides a way to store and manipulate a collection of objects in the specific datatype  order in which they were added.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50" name="Google Shape;450;p37" descr="688127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348855" y="1531620"/>
            <a:ext cx="4351655" cy="4351655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37"/>
          <p:cNvSpPr/>
          <p:nvPr/>
        </p:nvSpPr>
        <p:spPr>
          <a:xfrm>
            <a:off x="736600" y="1821815"/>
            <a:ext cx="6369685" cy="129095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Stack&lt;T&gt;</a:t>
            </a:r>
            <a:r>
              <a:rPr lang="en-US" sz="1600">
                <a:solidFill>
                  <a:srgbClr val="D1D5DB"/>
                </a:solidFill>
                <a:latin typeface="Comic Sans MS"/>
                <a:ea typeface="Comic Sans MS"/>
                <a:cs typeface="Comic Sans MS"/>
                <a:sym typeface="Comic Sans MS"/>
              </a:rPr>
              <a:t> is a generic collection  that represents a last-in, first-out (LIFO) data structure.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52" name="Google Shape;452;p37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8"/>
          <p:cNvSpPr/>
          <p:nvPr/>
        </p:nvSpPr>
        <p:spPr>
          <a:xfrm>
            <a:off x="929640" y="1855470"/>
            <a:ext cx="6369685" cy="293052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provides methods such as</a:t>
            </a:r>
            <a:endParaRPr sz="1600" b="0" i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Enqueue</a:t>
            </a:r>
            <a:endParaRPr sz="1600" b="0" i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 Dequeue,</a:t>
            </a:r>
            <a:endParaRPr sz="1600" b="0" i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Peek</a:t>
            </a:r>
            <a:endParaRPr sz="1600" b="0" i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Count.</a:t>
            </a:r>
            <a:endParaRPr sz="1600" b="0" i="0" u="none" strike="noStrike" cap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Contains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58" name="Google Shape;458;p38" descr="39079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552055" y="1774825"/>
            <a:ext cx="4351655" cy="4351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38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Example</a:t>
            </a:r>
            <a:endParaRPr/>
          </a:p>
        </p:txBody>
      </p:sp>
      <p:pic>
        <p:nvPicPr>
          <p:cNvPr id="465" name="Google Shape;465;p39" descr="Tex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690370"/>
            <a:ext cx="5596890" cy="4110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39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STACK&lt;T&gt;</a:t>
            </a:r>
            <a:endParaRPr b="1">
              <a:solidFill>
                <a:srgbClr val="012D86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72" name="Google Shape;472;p40"/>
          <p:cNvSpPr/>
          <p:nvPr/>
        </p:nvSpPr>
        <p:spPr>
          <a:xfrm>
            <a:off x="736600" y="3243580"/>
            <a:ext cx="6369685" cy="136080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mic Sans MS"/>
              <a:buNone/>
            </a:pPr>
            <a:r>
              <a:rPr lang="en-US" sz="1600">
                <a:solidFill>
                  <a:srgbClr val="D1D5DB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is defined in the </a:t>
            </a: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System.Collections.Generic</a:t>
            </a:r>
            <a:r>
              <a:rPr lang="en-US" sz="1600">
                <a:solidFill>
                  <a:srgbClr val="D1D5DB"/>
                </a:solidFill>
                <a:latin typeface="Comic Sans MS"/>
                <a:ea typeface="Comic Sans MS"/>
                <a:cs typeface="Comic Sans MS"/>
                <a:sym typeface="Comic Sans MS"/>
              </a:rPr>
              <a:t> namespace and provides a way to store and manipulate a collection of objects in the specific datatype  order in which they were added.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73" name="Google Shape;473;p40" descr="688127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348855" y="1531620"/>
            <a:ext cx="4351655" cy="4351655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40"/>
          <p:cNvSpPr/>
          <p:nvPr/>
        </p:nvSpPr>
        <p:spPr>
          <a:xfrm>
            <a:off x="736600" y="1821815"/>
            <a:ext cx="6369685" cy="129095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1600" b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Stack&lt;T&gt;</a:t>
            </a:r>
            <a:r>
              <a:rPr lang="en-US" sz="1600">
                <a:solidFill>
                  <a:srgbClr val="D1D5DB"/>
                </a:solidFill>
                <a:latin typeface="Comic Sans MS"/>
                <a:ea typeface="Comic Sans MS"/>
                <a:cs typeface="Comic Sans MS"/>
                <a:sym typeface="Comic Sans MS"/>
              </a:rPr>
              <a:t> is a generic collection  that represents a last-in, first-out (LIFO) data structure.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75" name="Google Shape;475;p40" descr="Aitrich-Logo-Transparent-BG-2048x6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LINQ-Language Integrated Query</a:t>
            </a:r>
            <a:endParaRPr b="1">
              <a:solidFill>
                <a:srgbClr val="012D86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81" name="Google Shape;481;p41"/>
          <p:cNvSpPr/>
          <p:nvPr/>
        </p:nvSpPr>
        <p:spPr>
          <a:xfrm>
            <a:off x="838200" y="3611245"/>
            <a:ext cx="7225665" cy="155321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mic Sans MS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LINQ introduces a set of standard query operators that can be used with any data source that implements the IEnumerable&lt;T&gt; interface. These operators are defined as extension methods in the System.Linq namespace.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82" name="Google Shape;482;p41"/>
          <p:cNvSpPr/>
          <p:nvPr/>
        </p:nvSpPr>
        <p:spPr>
          <a:xfrm>
            <a:off x="838200" y="1691005"/>
            <a:ext cx="7225665" cy="178625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0" scaled="0"/>
          </a:gra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mic Sans MS"/>
              <a:buNone/>
            </a:pPr>
            <a: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is a powerful feature in C# that provides a unified way to query and manipulate data from different data sources. It allows you to write queries against collections, databases, XML documents, and other data sources using a consistent syntax.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83" name="Google Shape;483;p41" descr="Aitrich-Logo-Transparent-BG-2048x6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41" descr="39079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8225790" y="1691005"/>
            <a:ext cx="3608070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D86"/>
              </a:buClr>
              <a:buSzPts val="4400"/>
              <a:buFont typeface="Bell MT"/>
              <a:buNone/>
            </a:pPr>
            <a:r>
              <a:rPr lang="en-US" b="1">
                <a:solidFill>
                  <a:srgbClr val="012D86"/>
                </a:solidFill>
                <a:latin typeface="Bell MT"/>
                <a:ea typeface="Bell MT"/>
                <a:cs typeface="Bell MT"/>
                <a:sym typeface="Bell MT"/>
              </a:rPr>
              <a:t>LINQ - Example</a:t>
            </a:r>
            <a:endParaRPr b="1">
              <a:solidFill>
                <a:srgbClr val="012D86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490" name="Google Shape;490;p42" descr="Aitrich-Logo-Transparent-BG-2048x6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125" y="6527165"/>
            <a:ext cx="1166495" cy="167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42" descr="39079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8225790" y="1691005"/>
            <a:ext cx="3608070" cy="4351655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42"/>
          <p:cNvSpPr/>
          <p:nvPr/>
        </p:nvSpPr>
        <p:spPr>
          <a:xfrm>
            <a:off x="838200" y="1484375"/>
            <a:ext cx="6510600" cy="4833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aseline="30000">
                <a:solidFill>
                  <a:srgbClr val="012D8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600" baseline="30000">
              <a:solidFill>
                <a:srgbClr val="012D8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aseline="30000">
                <a:solidFill>
                  <a:srgbClr val="012D86"/>
                </a:solidFill>
                <a:latin typeface="Arial"/>
                <a:ea typeface="Arial"/>
                <a:cs typeface="Arial"/>
                <a:sym typeface="Arial"/>
              </a:rPr>
              <a:t>static void Main()</a:t>
            </a:r>
            <a:endParaRPr sz="2600" baseline="30000">
              <a:solidFill>
                <a:srgbClr val="012D8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aseline="30000">
                <a:solidFill>
                  <a:srgbClr val="012D86"/>
                </a:solidFill>
              </a:rPr>
              <a:t>{</a:t>
            </a:r>
            <a:r>
              <a:rPr lang="en-US" sz="2600" baseline="30000">
                <a:solidFill>
                  <a:srgbClr val="012D86"/>
                </a:solidFill>
                <a:latin typeface="Arial"/>
                <a:ea typeface="Arial"/>
                <a:cs typeface="Arial"/>
                <a:sym typeface="Arial"/>
              </a:rPr>
              <a:t>/ Create a list of integers</a:t>
            </a:r>
            <a:endParaRPr sz="2600" baseline="30000">
              <a:solidFill>
                <a:srgbClr val="012D8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aseline="30000">
                <a:solidFill>
                  <a:srgbClr val="012D86"/>
                </a:solidFill>
                <a:latin typeface="Arial"/>
                <a:ea typeface="Arial"/>
                <a:cs typeface="Arial"/>
                <a:sym typeface="Arial"/>
              </a:rPr>
              <a:t>    List&lt;string&gt; memberList = new List&lt;string&gt; {"JobSeeker","admin","JobProvider"};// Query the list using LINQ</a:t>
            </a:r>
            <a:endParaRPr sz="2600" baseline="30000">
              <a:solidFill>
                <a:srgbClr val="012D8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aseline="30000">
                <a:solidFill>
                  <a:srgbClr val="012D86"/>
                </a:solidFill>
                <a:latin typeface="Arial"/>
                <a:ea typeface="Arial"/>
                <a:cs typeface="Arial"/>
                <a:sym typeface="Arial"/>
              </a:rPr>
              <a:t>   var allMembers = from member in memberList</a:t>
            </a:r>
            <a:endParaRPr sz="2600" baseline="30000">
              <a:solidFill>
                <a:srgbClr val="012D8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aseline="30000">
                <a:solidFill>
                  <a:srgbClr val="012D86"/>
                </a:solidFill>
                <a:latin typeface="Arial"/>
                <a:ea typeface="Arial"/>
                <a:cs typeface="Arial"/>
                <a:sym typeface="Arial"/>
              </a:rPr>
              <a:t>	        select member;// Iterate over the query results</a:t>
            </a:r>
            <a:endParaRPr sz="2600" baseline="30000">
              <a:solidFill>
                <a:srgbClr val="012D8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aseline="30000">
                <a:solidFill>
                  <a:srgbClr val="012D86"/>
                </a:solidFill>
                <a:latin typeface="Arial"/>
                <a:ea typeface="Arial"/>
                <a:cs typeface="Arial"/>
                <a:sym typeface="Arial"/>
              </a:rPr>
              <a:t>   foreach (var member in allMembers)</a:t>
            </a:r>
            <a:endParaRPr sz="2600" baseline="30000">
              <a:solidFill>
                <a:srgbClr val="012D8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aseline="30000">
                <a:solidFill>
                  <a:srgbClr val="012D86"/>
                </a:solidFill>
                <a:latin typeface="Arial"/>
                <a:ea typeface="Arial"/>
                <a:cs typeface="Arial"/>
                <a:sym typeface="Arial"/>
              </a:rPr>
              <a:t>   {</a:t>
            </a:r>
            <a:endParaRPr sz="2600" baseline="30000">
              <a:solidFill>
                <a:srgbClr val="012D8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aseline="30000">
                <a:solidFill>
                  <a:srgbClr val="012D86"/>
                </a:solidFill>
                <a:latin typeface="Arial"/>
                <a:ea typeface="Arial"/>
                <a:cs typeface="Arial"/>
                <a:sym typeface="Arial"/>
              </a:rPr>
              <a:t>      Console.WriteLine(member);</a:t>
            </a:r>
            <a:endParaRPr sz="2600" baseline="30000">
              <a:solidFill>
                <a:srgbClr val="012D8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aseline="30000">
                <a:solidFill>
                  <a:srgbClr val="012D86"/>
                </a:solidFill>
                <a:latin typeface="Arial"/>
                <a:ea typeface="Arial"/>
                <a:cs typeface="Arial"/>
                <a:sym typeface="Arial"/>
              </a:rPr>
              <a:t>   }</a:t>
            </a:r>
            <a:endParaRPr sz="2600" baseline="30000">
              <a:solidFill>
                <a:srgbClr val="012D8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aseline="30000">
                <a:solidFill>
                  <a:srgbClr val="012D86"/>
                </a:solidFill>
                <a:latin typeface="Arial"/>
                <a:ea typeface="Arial"/>
                <a:cs typeface="Arial"/>
                <a:sym typeface="Arial"/>
              </a:rPr>
              <a:t>   Console.ReadLine();   </a:t>
            </a:r>
            <a:endParaRPr sz="2600" baseline="30000">
              <a:solidFill>
                <a:srgbClr val="012D8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aseline="30000">
                <a:solidFill>
                  <a:srgbClr val="012D86"/>
                </a:solidFill>
                <a:latin typeface="Arial"/>
                <a:ea typeface="Arial"/>
                <a:cs typeface="Arial"/>
                <a:sym typeface="Arial"/>
              </a:rPr>
              <a:t> }</a:t>
            </a:r>
            <a:endParaRPr sz="2600" baseline="30000">
              <a:solidFill>
                <a:srgbClr val="012D8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Google Shape;497;p43" descr="tnq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742565" y="1253490"/>
            <a:ext cx="6706235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1285</Words>
  <Application>Microsoft Office PowerPoint</Application>
  <PresentationFormat>Custom</PresentationFormat>
  <Paragraphs>200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Arial</vt:lpstr>
      <vt:lpstr>Comic Sans MS</vt:lpstr>
      <vt:lpstr>Bell MT</vt:lpstr>
      <vt:lpstr>Calibri</vt:lpstr>
      <vt:lpstr>Quattrocento Sans</vt:lpstr>
      <vt:lpstr>Office Theme</vt:lpstr>
      <vt:lpstr>COLLECTIONS</vt:lpstr>
      <vt:lpstr>Overview</vt:lpstr>
      <vt:lpstr>INTRODUCTION</vt:lpstr>
      <vt:lpstr>TYPES OF COLLECTIONS IN .NET</vt:lpstr>
      <vt:lpstr>NON-GENERIC COLLECTIONS</vt:lpstr>
      <vt:lpstr>It represents a collection of key-value pairs in which keys are unique and the values can be of any type</vt:lpstr>
      <vt:lpstr>ARRAY LIST </vt:lpstr>
      <vt:lpstr>PowerPoint Presentation</vt:lpstr>
      <vt:lpstr>Example</vt:lpstr>
      <vt:lpstr>HASHTABLE</vt:lpstr>
      <vt:lpstr>PowerPoint Presentation</vt:lpstr>
      <vt:lpstr>Example</vt:lpstr>
      <vt:lpstr>QUEUE</vt:lpstr>
      <vt:lpstr>PowerPoint Presentation</vt:lpstr>
      <vt:lpstr>Example</vt:lpstr>
      <vt:lpstr>STACK</vt:lpstr>
      <vt:lpstr>PowerPoint Presentation</vt:lpstr>
      <vt:lpstr>Example</vt:lpstr>
      <vt:lpstr>SORTED LIST</vt:lpstr>
      <vt:lpstr>PowerPoint Presentation</vt:lpstr>
      <vt:lpstr>Example</vt:lpstr>
      <vt:lpstr>PowerPoint Presentation</vt:lpstr>
      <vt:lpstr>PowerPoint Presentation</vt:lpstr>
      <vt:lpstr>LIST&lt;T&gt; </vt:lpstr>
      <vt:lpstr>Some of the main features of List&lt;T&gt; include:  </vt:lpstr>
      <vt:lpstr>Example</vt:lpstr>
      <vt:lpstr>DICTIONARY&lt;TKEY, TVALUE&gt; </vt:lpstr>
      <vt:lpstr>PowerPoint Presentation</vt:lpstr>
      <vt:lpstr>PowerPoint Presentation</vt:lpstr>
      <vt:lpstr>Example</vt:lpstr>
      <vt:lpstr>SORTEDLIST&lt;TKEY, TVALUE&gt; </vt:lpstr>
      <vt:lpstr>PowerPoint Presentation</vt:lpstr>
      <vt:lpstr>Example</vt:lpstr>
      <vt:lpstr>QUEUE&lt;T&gt;</vt:lpstr>
      <vt:lpstr>PowerPoint Presentation</vt:lpstr>
      <vt:lpstr>Example</vt:lpstr>
      <vt:lpstr>STACK&lt;T&gt;</vt:lpstr>
      <vt:lpstr>PowerPoint Presentation</vt:lpstr>
      <vt:lpstr>Example</vt:lpstr>
      <vt:lpstr>STACK&lt;T&gt;</vt:lpstr>
      <vt:lpstr>LINQ-Language Integrated Query</vt:lpstr>
      <vt:lpstr>LINQ - Example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COLLECTIONS</dc:title>
  <cp:lastModifiedBy>Dell</cp:lastModifiedBy>
  <cp:revision>5</cp:revision>
  <dcterms:created xsi:type="dcterms:W3CDTF">2022-10-11T08:26:00Z</dcterms:created>
  <dcterms:modified xsi:type="dcterms:W3CDTF">2026-04-30T07:41:24Z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56BD2055CB2E4CD7B9FE413683165DA3</vt:lpwstr>
  </property>
  <property fmtid="{D5CDD505-2E9C-101B-9397-08002B2CF9AE}" pid="3" name="KSOProductBuildVer">
    <vt:lpwstr>1033-11.2.0.11537</vt:lpwstr>
  </property>
</Properties>
</file>